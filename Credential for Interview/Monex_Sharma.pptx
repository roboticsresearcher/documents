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9104A7-F288-4E43-9C0B-844B04FE4524}" v="1" dt="2026-09-20T19:15:28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ex Sharma" userId="a07e59d4a9a2a735" providerId="LiveId" clId="{420BDFD4-1941-48FC-B98F-74A87F5E6CEE}"/>
    <pc:docChg chg="undo custSel addSld delSld modSld sldOrd">
      <pc:chgData name="Monex Sharma" userId="a07e59d4a9a2a735" providerId="LiveId" clId="{420BDFD4-1941-48FC-B98F-74A87F5E6CEE}" dt="2026-09-20T19:16:54.344" v="6" actId="47"/>
      <pc:docMkLst>
        <pc:docMk/>
      </pc:docMkLst>
      <pc:sldChg chg="new del">
        <pc:chgData name="Monex Sharma" userId="a07e59d4a9a2a735" providerId="LiveId" clId="{420BDFD4-1941-48FC-B98F-74A87F5E6CEE}" dt="2026-09-20T19:16:54.344" v="6" actId="47"/>
        <pc:sldMkLst>
          <pc:docMk/>
          <pc:sldMk cId="141580668" sldId="263"/>
        </pc:sldMkLst>
      </pc:sldChg>
      <pc:sldChg chg="new del">
        <pc:chgData name="Monex Sharma" userId="a07e59d4a9a2a735" providerId="LiveId" clId="{420BDFD4-1941-48FC-B98F-74A87F5E6CEE}" dt="2026-09-20T18:56:10.716" v="1" actId="680"/>
        <pc:sldMkLst>
          <pc:docMk/>
          <pc:sldMk cId="3525034654" sldId="263"/>
        </pc:sldMkLst>
      </pc:sldChg>
      <pc:sldChg chg="add ord setBg">
        <pc:chgData name="Monex Sharma" userId="a07e59d4a9a2a735" providerId="LiveId" clId="{420BDFD4-1941-48FC-B98F-74A87F5E6CEE}" dt="2026-09-20T19:15:35.168" v="5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091C152A-6FB0-4EE1-B10B-8C0F55BD41D8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latin typeface="Arial"/>
              </a:rPr>
              <a:t>Good morning. I am Monex Sharma. I completed my Ph.D. in Robotics at NIT Warangal, where my thesis developed a terrain-adaptive, multi-objective coverage path planner for mobile robots based on an improved NSGA-II. My background is B.Tech in Robotics and Automation, and I have both research and industrial experience in mobile robotics, working day to day in C++, Python, ROS 2, MATLAB and Webots.</a:t>
            </a:r>
          </a:p>
        </p:txBody>
      </p:sp>
      <p:sp>
        <p:nvSpPr>
          <p:cNvPr id="1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821DB31-E8DB-4A15-878F-E3978E6F8CD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latin typeface="Arial"/>
              </a:rPr>
              <a:t>My work sits at the intersection of navigation, coverage path planning and multi-objective optimization, with localization and sensor fusion underneath it. I have taken methods from formulation through simulation to real hardware, and my industrial experience in SLAM and motion planning keeps that work grounded in what actually deploys.</a:t>
            </a:r>
          </a:p>
        </p:txBody>
      </p:sp>
      <p:sp>
        <p:nvSpPr>
          <p:cNvPr id="1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6EBCF5-36AC-4845-99FA-93DECD3CBF2D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latin typeface="Arial"/>
              </a:rPr>
              <a:t>Currently I am focused on uncertainty-aware navigation: making localization, exploration and obstacle avoidance robust when the map and the sensing are both imperfect. That research feeds directly into the student project I am guiding, an autonomous search-and-rescue robot built on ROS 2 with a complete perception-to-navigation stack.</a:t>
            </a:r>
          </a:p>
        </p:txBody>
      </p:sp>
      <p:sp>
        <p:nvSpPr>
          <p:cNvPr id="2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57F976-DCE2-43E0-8DDE-30DC3D1BEF4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latin typeface="Arial"/>
              </a:rPr>
              <a:t>In the short term I want to harden localization and navigation for unknown and dynamic environments and extend my coverage planning work. Longer term I am aiming at AI-assisted navigation, multi-robot exploration and search-and-rescue, always validated on real hardware and, wherever possible, with industry partners. The single goal behind all of it is reliability in the real world.</a:t>
            </a:r>
          </a:p>
        </p:txBody>
      </p:sp>
      <p:sp>
        <p:nvSpPr>
          <p:cNvPr id="2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6F4C61-8684-4EAD-BDCF-1AF08AF70CA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latin typeface="Arial"/>
              </a:rPr>
              <a:t>My teaching follows one arc: fundamentals, then programming, then simulation, then hardware, then an open project. I can teach robotics and autonomous systems, ROS 2, C++ and Python, computer vision and control systems, and I like running design-thinking and project-based courses. To close: my aim is to integrate teaching, research and practical robotics experience to develop capable students and contribute to reliable autonomous robotic systems. Thank you.</a:t>
            </a:r>
          </a:p>
        </p:txBody>
      </p:sp>
      <p:sp>
        <p:nvSpPr>
          <p:cNvPr id="20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030575-4F30-42EE-BE0C-DABD0105A9F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685800" y="914400"/>
            <a:ext cx="6033600" cy="68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Dr. Monex Sharma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685800" y="1627560"/>
            <a:ext cx="60336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0" strike="noStrike" spc="-1">
                <a:solidFill>
                  <a:srgbClr val="8FD3DF"/>
                </a:solidFill>
                <a:latin typeface="Calibri"/>
                <a:ea typeface="Calibri"/>
              </a:rPr>
              <a:t>Ph.D. in Robotics  ·  NIT Warangal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685800" y="2286000"/>
            <a:ext cx="5850720" cy="1187280"/>
          </a:xfrm>
          <a:prstGeom prst="roundRect">
            <a:avLst>
              <a:gd name="adj" fmla="val 6154"/>
            </a:avLst>
          </a:prstGeom>
          <a:solidFill>
            <a:srgbClr val="123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Text 3"/>
          <p:cNvSpPr/>
          <p:nvPr/>
        </p:nvSpPr>
        <p:spPr>
          <a:xfrm>
            <a:off x="960120" y="2441520"/>
            <a:ext cx="530208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191">
                <a:solidFill>
                  <a:srgbClr val="F4A259"/>
                </a:solidFill>
                <a:latin typeface="Calibri"/>
                <a:ea typeface="Calibri"/>
              </a:rPr>
              <a:t>PH.D. RESEARCH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960120" y="2724840"/>
            <a:ext cx="53020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00"/>
              </a:lnSpc>
              <a:buNone/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  <a:ea typeface="Calibri"/>
              </a:rPr>
              <a:t>Terrain-Adaptive Multi-Objective Coverage Path Planning for Mobile Robots Using an Improved NSGA-II Algorithm</a:t>
            </a:r>
            <a:endParaRPr lang="en-US" sz="1350" b="0" strike="noStrike" spc="-1"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685800" y="3823920"/>
            <a:ext cx="401040" cy="401040"/>
          </a:xfrm>
          <a:prstGeom prst="ellipse">
            <a:avLst/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0" name="Image 0" descr="preencoded.png"/>
          <p:cNvPicPr/>
          <p:nvPr/>
        </p:nvPicPr>
        <p:blipFill>
          <a:blip r:embed="rId3"/>
          <a:stretch/>
        </p:blipFill>
        <p:spPr>
          <a:xfrm>
            <a:off x="794520" y="3932640"/>
            <a:ext cx="183600" cy="183600"/>
          </a:xfrm>
          <a:prstGeom prst="rect">
            <a:avLst/>
          </a:prstGeom>
          <a:ln w="0">
            <a:noFill/>
          </a:ln>
        </p:spPr>
      </p:pic>
      <p:sp>
        <p:nvSpPr>
          <p:cNvPr id="51" name="Text 6"/>
          <p:cNvSpPr/>
          <p:nvPr/>
        </p:nvSpPr>
        <p:spPr>
          <a:xfrm>
            <a:off x="1261800" y="3806280"/>
            <a:ext cx="539352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E8F1F3"/>
                </a:solidFill>
                <a:latin typeface="Calibri"/>
                <a:ea typeface="Calibri"/>
              </a:rPr>
              <a:t>Ph. D. in Robotics and Optimization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685800" y="4537800"/>
            <a:ext cx="401040" cy="401040"/>
          </a:xfrm>
          <a:prstGeom prst="ellipse">
            <a:avLst/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3" name="Image 1" descr="preencoded.png"/>
          <p:cNvPicPr/>
          <p:nvPr/>
        </p:nvPicPr>
        <p:blipFill>
          <a:blip r:embed="rId4"/>
          <a:stretch/>
        </p:blipFill>
        <p:spPr>
          <a:xfrm>
            <a:off x="794520" y="4610520"/>
            <a:ext cx="183600" cy="183600"/>
          </a:xfrm>
          <a:prstGeom prst="rect">
            <a:avLst/>
          </a:prstGeom>
          <a:ln w="0">
            <a:noFill/>
          </a:ln>
        </p:spPr>
      </p:pic>
      <p:sp>
        <p:nvSpPr>
          <p:cNvPr id="54" name="Text 8"/>
          <p:cNvSpPr/>
          <p:nvPr/>
        </p:nvSpPr>
        <p:spPr>
          <a:xfrm>
            <a:off x="1261800" y="4556160"/>
            <a:ext cx="539352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E8F1F3"/>
                </a:solidFill>
                <a:latin typeface="Calibri"/>
                <a:ea typeface="Calibri"/>
              </a:rPr>
              <a:t>Faculty and Research in VFSTR, Vignan University</a:t>
            </a:r>
            <a:endParaRPr lang="en-US" sz="145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E8F1F3"/>
                </a:solidFill>
                <a:latin typeface="Calibri"/>
                <a:ea typeface="Calibri"/>
              </a:rPr>
              <a:t>B. Tech in Robotics and Automation course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685800" y="5863680"/>
            <a:ext cx="401040" cy="401040"/>
          </a:xfrm>
          <a:prstGeom prst="ellipse">
            <a:avLst/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6" name="Image 2" descr="preencoded.png"/>
          <p:cNvPicPr/>
          <p:nvPr/>
        </p:nvPicPr>
        <p:blipFill>
          <a:blip r:embed="rId5"/>
          <a:stretch/>
        </p:blipFill>
        <p:spPr>
          <a:xfrm>
            <a:off x="794520" y="5972040"/>
            <a:ext cx="183600" cy="183600"/>
          </a:xfrm>
          <a:prstGeom prst="rect">
            <a:avLst/>
          </a:prstGeom>
          <a:ln w="0">
            <a:noFill/>
          </a:ln>
        </p:spPr>
      </p:pic>
      <p:sp>
        <p:nvSpPr>
          <p:cNvPr id="57" name="Text 10"/>
          <p:cNvSpPr/>
          <p:nvPr/>
        </p:nvSpPr>
        <p:spPr>
          <a:xfrm>
            <a:off x="1261800" y="5845680"/>
            <a:ext cx="539352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E8F1F3"/>
                </a:solidFill>
                <a:latin typeface="Calibri"/>
                <a:ea typeface="Calibri"/>
              </a:rPr>
              <a:t>C++  ·  Python  ·  ROS 2  ·  MATLAB  ·  Gazebo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58" name="Text 40"/>
          <p:cNvSpPr/>
          <p:nvPr/>
        </p:nvSpPr>
        <p:spPr>
          <a:xfrm>
            <a:off x="7471800" y="5176800"/>
            <a:ext cx="41140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50000"/>
              </a:lnSpc>
              <a:spcBef>
                <a:spcPts val="431"/>
              </a:spcBef>
              <a:spcAft>
                <a:spcPts val="431"/>
              </a:spcAft>
              <a:buNone/>
              <a:tabLst>
                <a:tab pos="0" algn="l"/>
              </a:tabLst>
            </a:pPr>
            <a:r>
              <a:rPr lang="en-US" sz="1200" b="1" i="1" strike="noStrike" spc="-1">
                <a:solidFill>
                  <a:srgbClr val="FFFF38"/>
                </a:solidFill>
                <a:latin typeface="Calibri"/>
                <a:ea typeface="Calibri"/>
              </a:rPr>
              <a:t>Proposed NSGA-II method over (a) flat terrain  (b) uneven terrain.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59" name="Picture 58"/>
          <p:cNvPicPr/>
          <p:nvPr/>
        </p:nvPicPr>
        <p:blipFill>
          <a:blip r:embed="rId6"/>
          <a:srcRect r="49555" b="49098"/>
          <a:stretch/>
        </p:blipFill>
        <p:spPr>
          <a:xfrm>
            <a:off x="7014600" y="2718000"/>
            <a:ext cx="2189880" cy="2189880"/>
          </a:xfrm>
          <a:prstGeom prst="rect">
            <a:avLst/>
          </a:prstGeom>
          <a:ln w="0">
            <a:noFill/>
          </a:ln>
        </p:spPr>
      </p:pic>
      <p:pic>
        <p:nvPicPr>
          <p:cNvPr id="60" name="Picture 59"/>
          <p:cNvPicPr/>
          <p:nvPr/>
        </p:nvPicPr>
        <p:blipFill>
          <a:blip r:embed="rId7"/>
          <a:srcRect l="33514" t="4283" r="31422" b="48752"/>
          <a:stretch/>
        </p:blipFill>
        <p:spPr>
          <a:xfrm>
            <a:off x="9372960" y="2790000"/>
            <a:ext cx="2513520" cy="2101320"/>
          </a:xfrm>
          <a:prstGeom prst="rect">
            <a:avLst/>
          </a:prstGeom>
          <a:ln w="0">
            <a:noFill/>
          </a:ln>
        </p:spPr>
      </p:pic>
      <p:sp>
        <p:nvSpPr>
          <p:cNvPr id="61" name="Rectangle 60"/>
          <p:cNvSpPr/>
          <p:nvPr/>
        </p:nvSpPr>
        <p:spPr>
          <a:xfrm>
            <a:off x="1189800" y="5182560"/>
            <a:ext cx="479988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en-US" sz="1450" b="0" strike="noStrike" spc="-1">
                <a:solidFill>
                  <a:srgbClr val="E8F1F3"/>
                </a:solidFill>
                <a:latin typeface="Calibri"/>
                <a:ea typeface="Calibri"/>
              </a:rPr>
              <a:t>Industrial R&amp;D in façade-climbing robotics at WCB Robotics India Pvt Ltd (Start up firm).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685800" y="5221800"/>
            <a:ext cx="456480" cy="456480"/>
          </a:xfrm>
          <a:prstGeom prst="ellipse">
            <a:avLst/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63" name="Picture 62"/>
          <p:cNvPicPr/>
          <p:nvPr/>
        </p:nvPicPr>
        <p:blipFill>
          <a:blip r:embed="rId8"/>
          <a:srcRect l="12300" t="10970" r="14047" b="11045"/>
          <a:stretch/>
        </p:blipFill>
        <p:spPr>
          <a:xfrm>
            <a:off x="793800" y="5309640"/>
            <a:ext cx="227880" cy="241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685800" y="548640"/>
            <a:ext cx="731376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strike="noStrike" spc="-1">
                <a:solidFill>
                  <a:srgbClr val="0E2A33"/>
                </a:solidFill>
                <a:latin typeface="Cambria"/>
                <a:ea typeface="Cambria"/>
              </a:rPr>
              <a:t>Research Credentials</a:t>
            </a:r>
            <a:endParaRPr lang="en-US" sz="3400" b="0" strike="noStrike" spc="-1"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685800" y="1417320"/>
            <a:ext cx="511920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191">
                <a:solidFill>
                  <a:srgbClr val="1B9AAA"/>
                </a:solidFill>
                <a:latin typeface="Calibri"/>
                <a:ea typeface="Calibri"/>
              </a:rPr>
              <a:t>RESEARCH AREAS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685800" y="1847160"/>
            <a:ext cx="5027760" cy="63864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67" name="Image 0" descr="preencoded.png"/>
          <p:cNvPicPr/>
          <p:nvPr/>
        </p:nvPicPr>
        <p:blipFill>
          <a:blip r:embed="rId3"/>
          <a:stretch/>
        </p:blipFill>
        <p:spPr>
          <a:xfrm>
            <a:off x="914400" y="2002680"/>
            <a:ext cx="327600" cy="327600"/>
          </a:xfrm>
          <a:prstGeom prst="rect">
            <a:avLst/>
          </a:prstGeom>
          <a:ln w="0">
            <a:noFill/>
          </a:ln>
        </p:spPr>
      </p:pic>
      <p:sp>
        <p:nvSpPr>
          <p:cNvPr id="68" name="Text 3"/>
          <p:cNvSpPr/>
          <p:nvPr/>
        </p:nvSpPr>
        <p:spPr>
          <a:xfrm>
            <a:off x="1371600" y="184716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Mobile Robot Navigation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685800" y="2651760"/>
            <a:ext cx="5027760" cy="63864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0" name="Image 1" descr="preencoded.png"/>
          <p:cNvPicPr/>
          <p:nvPr/>
        </p:nvPicPr>
        <p:blipFill>
          <a:blip r:embed="rId4"/>
          <a:stretch/>
        </p:blipFill>
        <p:spPr>
          <a:xfrm>
            <a:off x="914400" y="2807280"/>
            <a:ext cx="327600" cy="327600"/>
          </a:xfrm>
          <a:prstGeom prst="rect">
            <a:avLst/>
          </a:prstGeom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1371600" y="265176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Coverage Path Planning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685800" y="3456360"/>
            <a:ext cx="5027760" cy="63864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3" name="Image 2" descr="preencoded.png"/>
          <p:cNvPicPr/>
          <p:nvPr/>
        </p:nvPicPr>
        <p:blipFill>
          <a:blip r:embed="rId5"/>
          <a:stretch/>
        </p:blipFill>
        <p:spPr>
          <a:xfrm>
            <a:off x="914400" y="3611880"/>
            <a:ext cx="327600" cy="327600"/>
          </a:xfrm>
          <a:prstGeom prst="rect">
            <a:avLst/>
          </a:prstGeom>
          <a:ln w="0">
            <a:noFill/>
          </a:ln>
        </p:spPr>
      </p:pic>
      <p:sp>
        <p:nvSpPr>
          <p:cNvPr id="74" name="Text 7"/>
          <p:cNvSpPr/>
          <p:nvPr/>
        </p:nvSpPr>
        <p:spPr>
          <a:xfrm>
            <a:off x="1371600" y="345636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Multi-Objective Optimization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685800" y="4260960"/>
            <a:ext cx="5027760" cy="63864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6" name="Image 3" descr="preencoded.png"/>
          <p:cNvPicPr/>
          <p:nvPr/>
        </p:nvPicPr>
        <p:blipFill>
          <a:blip r:embed="rId6"/>
          <a:stretch/>
        </p:blipFill>
        <p:spPr>
          <a:xfrm>
            <a:off x="914400" y="4416480"/>
            <a:ext cx="327600" cy="327600"/>
          </a:xfrm>
          <a:prstGeom prst="rect">
            <a:avLst/>
          </a:prstGeom>
          <a:ln w="0">
            <a:noFill/>
          </a:ln>
        </p:spPr>
      </p:pic>
      <p:sp>
        <p:nvSpPr>
          <p:cNvPr id="77" name="Text 9"/>
          <p:cNvSpPr/>
          <p:nvPr/>
        </p:nvSpPr>
        <p:spPr>
          <a:xfrm>
            <a:off x="1371600" y="426096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Localization and Sensor Fusion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78" name="Shape 10"/>
          <p:cNvSpPr/>
          <p:nvPr/>
        </p:nvSpPr>
        <p:spPr>
          <a:xfrm>
            <a:off x="685800" y="5065920"/>
            <a:ext cx="5027760" cy="63864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9" name="Image 4" descr="preencoded.png"/>
          <p:cNvPicPr/>
          <p:nvPr/>
        </p:nvPicPr>
        <p:blipFill>
          <a:blip r:embed="rId7"/>
          <a:stretch/>
        </p:blipFill>
        <p:spPr>
          <a:xfrm>
            <a:off x="914400" y="5221080"/>
            <a:ext cx="327600" cy="327600"/>
          </a:xfrm>
          <a:prstGeom prst="rect">
            <a:avLst/>
          </a:prstGeom>
          <a:ln w="0">
            <a:noFill/>
          </a:ln>
        </p:spPr>
      </p:pic>
      <p:sp>
        <p:nvSpPr>
          <p:cNvPr id="80" name="Text 11"/>
          <p:cNvSpPr/>
          <p:nvPr/>
        </p:nvSpPr>
        <p:spPr>
          <a:xfrm>
            <a:off x="1371600" y="506592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Autonomous Mobile Robots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6400800" y="1417320"/>
            <a:ext cx="50277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191">
                <a:solidFill>
                  <a:srgbClr val="1B9AAA"/>
                </a:solidFill>
                <a:latin typeface="Calibri"/>
                <a:ea typeface="Calibri"/>
              </a:rPr>
              <a:t>RESEARCH EXPERIENCE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6400800" y="1883520"/>
            <a:ext cx="327600" cy="327600"/>
          </a:xfrm>
          <a:prstGeom prst="ellipse">
            <a:avLst/>
          </a:prstGeom>
          <a:solidFill>
            <a:srgbClr val="0E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Text 14"/>
          <p:cNvSpPr/>
          <p:nvPr/>
        </p:nvSpPr>
        <p:spPr>
          <a:xfrm>
            <a:off x="6400800" y="188352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6858000" y="1828800"/>
            <a:ext cx="45705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99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Developed multi-objective optimization-based path planning methods for mobile robots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6400800" y="2871360"/>
            <a:ext cx="327600" cy="327600"/>
          </a:xfrm>
          <a:prstGeom prst="ellipse">
            <a:avLst/>
          </a:prstGeom>
          <a:solidFill>
            <a:srgbClr val="0E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" name="Text 17"/>
          <p:cNvSpPr/>
          <p:nvPr/>
        </p:nvSpPr>
        <p:spPr>
          <a:xfrm>
            <a:off x="6400800" y="287136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6858000" y="2816280"/>
            <a:ext cx="45705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99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Validated work in simulation and on real mobile robot platforms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6400800" y="3858840"/>
            <a:ext cx="327600" cy="327600"/>
          </a:xfrm>
          <a:prstGeom prst="ellipse">
            <a:avLst/>
          </a:prstGeom>
          <a:solidFill>
            <a:srgbClr val="0E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Text 20"/>
          <p:cNvSpPr/>
          <p:nvPr/>
        </p:nvSpPr>
        <p:spPr>
          <a:xfrm>
            <a:off x="6400800" y="385884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6858000" y="3803760"/>
            <a:ext cx="45705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99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Industrial experience in SLAM, localization, sensor fusion and motion planning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6400800" y="4846320"/>
            <a:ext cx="327600" cy="327600"/>
          </a:xfrm>
          <a:prstGeom prst="ellipse">
            <a:avLst/>
          </a:prstGeom>
          <a:solidFill>
            <a:srgbClr val="0E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" name="Text 23"/>
          <p:cNvSpPr/>
          <p:nvPr/>
        </p:nvSpPr>
        <p:spPr>
          <a:xfrm>
            <a:off x="6400800" y="484632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6858000" y="4791600"/>
            <a:ext cx="45705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99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Peer-reviewed publications in mobile robotics and path planning</a:t>
            </a:r>
            <a:endParaRPr lang="en-US" sz="14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685800" y="548640"/>
            <a:ext cx="731376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strike="noStrike" spc="-1">
                <a:solidFill>
                  <a:srgbClr val="0E2A33"/>
                </a:solidFill>
                <a:latin typeface="Cambria"/>
                <a:ea typeface="Cambria"/>
              </a:rPr>
              <a:t>Industrial Work Experience</a:t>
            </a:r>
            <a:endParaRPr lang="en-US" sz="3400" b="0" strike="noStrike" spc="-1">
              <a:latin typeface="Arial"/>
            </a:endParaRPr>
          </a:p>
        </p:txBody>
      </p:sp>
      <p:sp>
        <p:nvSpPr>
          <p:cNvPr id="200" name="Text Subtitle"/>
          <p:cNvSpPr/>
          <p:nvPr/>
        </p:nvSpPr>
        <p:spPr>
          <a:xfrm>
            <a:off x="685800" y="1120140"/>
            <a:ext cx="7313760" cy="2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1B9AAA"/>
                </a:solidFill>
                <a:latin typeface="Calibri"/>
                <a:ea typeface="Calibri"/>
              </a:rPr>
              <a:t>WCB Robotics India Pvt Ltd  ·  Robotics Software Engineer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685800" y="1417320"/>
            <a:ext cx="511920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191">
                <a:solidFill>
                  <a:srgbClr val="1B9AAA"/>
                </a:solidFill>
                <a:latin typeface="Calibri"/>
                <a:ea typeface="Calibri"/>
              </a:rPr>
              <a:t>SENSORS &amp; HARDWARE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685800" y="1847160"/>
            <a:ext cx="5027760" cy="63864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67" name="Image 0" descr="preencoded.png"/>
          <p:cNvPicPr/>
          <p:nvPr/>
        </p:nvPicPr>
        <p:blipFill>
          <a:blip r:embed="rId2"/>
          <a:stretch/>
        </p:blipFill>
        <p:spPr>
          <a:xfrm>
            <a:off x="914400" y="2002680"/>
            <a:ext cx="327600" cy="327600"/>
          </a:xfrm>
          <a:prstGeom prst="rect">
            <a:avLst/>
          </a:prstGeom>
          <a:ln w="0">
            <a:noFill/>
          </a:ln>
        </p:spPr>
      </p:pic>
      <p:sp>
        <p:nvSpPr>
          <p:cNvPr id="68" name="Text 3"/>
          <p:cNvSpPr/>
          <p:nvPr/>
        </p:nvSpPr>
        <p:spPr>
          <a:xfrm>
            <a:off x="1371600" y="184716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Encoder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685800" y="2651760"/>
            <a:ext cx="5027760" cy="63864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0" name="Image 1" descr="preencoded.png"/>
          <p:cNvPicPr/>
          <p:nvPr/>
        </p:nvPicPr>
        <p:blipFill>
          <a:blip r:embed="rId3"/>
          <a:stretch/>
        </p:blipFill>
        <p:spPr>
          <a:xfrm>
            <a:off x="914400" y="2807280"/>
            <a:ext cx="327600" cy="327600"/>
          </a:xfrm>
          <a:prstGeom prst="rect">
            <a:avLst/>
          </a:prstGeom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1371600" y="265176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Barometer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685800" y="3456360"/>
            <a:ext cx="5027760" cy="63864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3" name="Image 2" descr="preencoded.png"/>
          <p:cNvPicPr/>
          <p:nvPr/>
        </p:nvPicPr>
        <p:blipFill>
          <a:blip r:embed="rId4"/>
          <a:stretch/>
        </p:blipFill>
        <p:spPr>
          <a:xfrm>
            <a:off x="914400" y="3611880"/>
            <a:ext cx="327600" cy="327600"/>
          </a:xfrm>
          <a:prstGeom prst="rect">
            <a:avLst/>
          </a:prstGeom>
          <a:ln w="0">
            <a:noFill/>
          </a:ln>
        </p:spPr>
      </p:pic>
      <p:sp>
        <p:nvSpPr>
          <p:cNvPr id="74" name="Text 7"/>
          <p:cNvSpPr/>
          <p:nvPr/>
        </p:nvSpPr>
        <p:spPr>
          <a:xfrm>
            <a:off x="1371600" y="345636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IMU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685800" y="4260960"/>
            <a:ext cx="5027760" cy="63864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6" name="Image 3" descr="preencoded.png"/>
          <p:cNvPicPr/>
          <p:nvPr/>
        </p:nvPicPr>
        <p:blipFill>
          <a:blip r:embed="rId5"/>
          <a:stretch/>
        </p:blipFill>
        <p:spPr>
          <a:xfrm>
            <a:off x="914400" y="4416480"/>
            <a:ext cx="327600" cy="327600"/>
          </a:xfrm>
          <a:prstGeom prst="rect">
            <a:avLst/>
          </a:prstGeom>
          <a:ln w="0">
            <a:noFill/>
          </a:ln>
        </p:spPr>
      </p:pic>
      <p:sp>
        <p:nvSpPr>
          <p:cNvPr id="77" name="Text 9"/>
          <p:cNvSpPr/>
          <p:nvPr/>
        </p:nvSpPr>
        <p:spPr>
          <a:xfrm>
            <a:off x="1371600" y="426096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IR Sensor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78" name="Shape 10"/>
          <p:cNvSpPr/>
          <p:nvPr/>
        </p:nvSpPr>
        <p:spPr>
          <a:xfrm>
            <a:off x="685800" y="5065920"/>
            <a:ext cx="5027760" cy="63864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9" name="Image 4" descr="preencoded.png"/>
          <p:cNvPicPr/>
          <p:nvPr/>
        </p:nvPicPr>
        <p:blipFill>
          <a:blip r:embed="rId6"/>
          <a:stretch/>
        </p:blipFill>
        <p:spPr>
          <a:xfrm>
            <a:off x="914400" y="5221080"/>
            <a:ext cx="327600" cy="327600"/>
          </a:xfrm>
          <a:prstGeom prst="rect">
            <a:avLst/>
          </a:prstGeom>
          <a:ln w="0">
            <a:noFill/>
          </a:ln>
        </p:spPr>
      </p:pic>
      <p:sp>
        <p:nvSpPr>
          <p:cNvPr id="80" name="Text 11"/>
          <p:cNvSpPr/>
          <p:nvPr/>
        </p:nvSpPr>
        <p:spPr>
          <a:xfrm>
            <a:off x="1371600" y="506592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ToF Sensor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6400800" y="1417320"/>
            <a:ext cx="50277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191">
                <a:solidFill>
                  <a:srgbClr val="1B9AAA"/>
                </a:solidFill>
                <a:latin typeface="Calibri"/>
                <a:ea typeface="Calibri"/>
              </a:rPr>
              <a:t>ENGINEERING CONTRIBUTIONS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6400800" y="1883520"/>
            <a:ext cx="327600" cy="327600"/>
          </a:xfrm>
          <a:prstGeom prst="ellipse">
            <a:avLst/>
          </a:prstGeom>
          <a:solidFill>
            <a:srgbClr val="0E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Text 14"/>
          <p:cNvSpPr/>
          <p:nvPr/>
        </p:nvSpPr>
        <p:spPr>
          <a:xfrm>
            <a:off x="6400800" y="188352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6858000" y="1828800"/>
            <a:ext cx="45705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99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Implemented Kalman filter-based sensor fusion across encoder, barometer, IMU and IR sensor data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6400800" y="2871360"/>
            <a:ext cx="327600" cy="327600"/>
          </a:xfrm>
          <a:prstGeom prst="ellipse">
            <a:avLst/>
          </a:prstGeom>
          <a:solidFill>
            <a:srgbClr val="0E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" name="Text 17"/>
          <p:cNvSpPr/>
          <p:nvPr/>
        </p:nvSpPr>
        <p:spPr>
          <a:xfrm>
            <a:off x="6400800" y="287136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6858000" y="2816280"/>
            <a:ext cx="45705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99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Engineering code design for gear profile using Python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6400800" y="3858840"/>
            <a:ext cx="327600" cy="327600"/>
          </a:xfrm>
          <a:prstGeom prst="ellipse">
            <a:avLst/>
          </a:prstGeom>
          <a:solidFill>
            <a:srgbClr val="0E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Text 20"/>
          <p:cNvSpPr/>
          <p:nvPr/>
        </p:nvSpPr>
        <p:spPr>
          <a:xfrm>
            <a:off x="6400800" y="385884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6858000" y="3803760"/>
            <a:ext cx="45705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99"/>
              </a:lnSpc>
              <a:buNone/>
              <a:tabLst>
                <a:tab pos="0" algn="l"/>
              </a:tabLst>
            </a:pPr>
            <a:r>
              <a:rPr lang="en-US" sz="1450" b="0" strike="noStrike" spc="-1">
                <a:solidFill>
                  <a:srgbClr val="1F2D33"/>
                </a:solidFill>
                <a:latin typeface="Calibri"/>
                <a:ea typeface="Calibri"/>
              </a:rPr>
              <a:t>Calibration of ToF (Time-of-Flight) sensor for accurate range sensing</a:t>
            </a:r>
            <a:endParaRPr lang="en-US" sz="1450" b="0" strike="noStrike" spc="-1"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6400800" y="4846320"/>
            <a:ext cx="327600" cy="327600"/>
          </a:xfrm>
          <a:prstGeom prst="ellipse">
            <a:avLst/>
          </a:prstGeom>
          <a:solidFill>
            <a:srgbClr val="0E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" name="Text 23"/>
          <p:cNvSpPr/>
          <p:nvPr/>
        </p:nvSpPr>
        <p:spPr>
          <a:xfrm>
            <a:off x="6400800" y="484632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6858000" y="4791600"/>
            <a:ext cx="45705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99"/>
              </a:lnSpc>
              <a:buNone/>
              <a:tabLst>
                <a:tab pos="0" algn="l"/>
              </a:tabLst>
            </a:pPr>
            <a:r>
              <a:rPr lang="en-US" sz="1450" b="0" strike="noStrike" spc="-1" dirty="0">
                <a:solidFill>
                  <a:srgbClr val="1F2D33"/>
                </a:solidFill>
                <a:latin typeface="Calibri"/>
                <a:ea typeface="Calibri"/>
              </a:rPr>
              <a:t>Slip detection using the ICR (Instantaneous Center of Rotation) technique</a:t>
            </a:r>
            <a:endParaRPr lang="en-US" sz="145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685800" y="548640"/>
            <a:ext cx="731376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strike="noStrike" spc="-1">
                <a:solidFill>
                  <a:srgbClr val="0E2A33"/>
                </a:solidFill>
                <a:latin typeface="Cambria"/>
                <a:ea typeface="Cambria"/>
              </a:rPr>
              <a:t>Ongoing Research</a:t>
            </a:r>
            <a:endParaRPr lang="en-US" sz="3400" b="0" strike="noStrike" spc="-1"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685800" y="1417320"/>
            <a:ext cx="48448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191">
                <a:solidFill>
                  <a:srgbClr val="1B9AAA"/>
                </a:solidFill>
                <a:latin typeface="Calibri"/>
                <a:ea typeface="Calibri"/>
              </a:rPr>
              <a:t>CURRENT RESEARCH FOCUS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713160" y="1974960"/>
            <a:ext cx="154080" cy="154080"/>
          </a:xfrm>
          <a:prstGeom prst="diamond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" name="Text 3"/>
          <p:cNvSpPr/>
          <p:nvPr/>
        </p:nvSpPr>
        <p:spPr>
          <a:xfrm>
            <a:off x="1097280" y="1874520"/>
            <a:ext cx="447912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0" strike="noStrike" spc="-1">
                <a:solidFill>
                  <a:srgbClr val="1F2D33"/>
                </a:solidFill>
                <a:latin typeface="Calibri"/>
                <a:ea typeface="Calibri"/>
              </a:rPr>
              <a:t>Uncertainty-aware mobile robot navigation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713160" y="2752200"/>
            <a:ext cx="154080" cy="154080"/>
          </a:xfrm>
          <a:prstGeom prst="diamond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9" name="Text 5"/>
          <p:cNvSpPr/>
          <p:nvPr/>
        </p:nvSpPr>
        <p:spPr>
          <a:xfrm>
            <a:off x="1097280" y="2651760"/>
            <a:ext cx="447912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0" strike="noStrike" spc="-1">
                <a:solidFill>
                  <a:srgbClr val="1F2D33"/>
                </a:solidFill>
                <a:latin typeface="Calibri"/>
                <a:ea typeface="Calibri"/>
              </a:rPr>
              <a:t>Localization and sensor fusion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713160" y="3529440"/>
            <a:ext cx="154080" cy="154080"/>
          </a:xfrm>
          <a:prstGeom prst="diamond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Text 7"/>
          <p:cNvSpPr/>
          <p:nvPr/>
        </p:nvSpPr>
        <p:spPr>
          <a:xfrm>
            <a:off x="1097280" y="3429000"/>
            <a:ext cx="447912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0" strike="noStrike" spc="-1">
                <a:solidFill>
                  <a:srgbClr val="1F2D33"/>
                </a:solidFill>
                <a:latin typeface="Calibri"/>
                <a:ea typeface="Calibri"/>
              </a:rPr>
              <a:t>Navigation in unknown environments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713160" y="4306680"/>
            <a:ext cx="154080" cy="154080"/>
          </a:xfrm>
          <a:prstGeom prst="diamond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3" name="Text 9"/>
          <p:cNvSpPr/>
          <p:nvPr/>
        </p:nvSpPr>
        <p:spPr>
          <a:xfrm>
            <a:off x="1097280" y="4206240"/>
            <a:ext cx="447912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0" strike="noStrike" spc="-1">
                <a:solidFill>
                  <a:srgbClr val="1F2D33"/>
                </a:solidFill>
                <a:latin typeface="Calibri"/>
                <a:ea typeface="Calibri"/>
              </a:rPr>
              <a:t>Dynamic obstacle avoidance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1097280" y="4983480"/>
            <a:ext cx="447912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0" strike="noStrike" spc="-1">
                <a:solidFill>
                  <a:srgbClr val="1F2D33"/>
                </a:solidFill>
                <a:latin typeface="Calibri"/>
                <a:ea typeface="Calibri"/>
              </a:rPr>
              <a:t>Autonomous exploration and mapping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6217920" y="1371600"/>
            <a:ext cx="5256360" cy="4159080"/>
          </a:xfrm>
          <a:prstGeom prst="roundRect">
            <a:avLst>
              <a:gd name="adj" fmla="val 1099"/>
            </a:avLst>
          </a:prstGeom>
          <a:solidFill>
            <a:srgbClr val="0E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6" name="Text 13"/>
          <p:cNvSpPr/>
          <p:nvPr/>
        </p:nvSpPr>
        <p:spPr>
          <a:xfrm>
            <a:off x="6537960" y="1691640"/>
            <a:ext cx="466200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191">
                <a:solidFill>
                  <a:srgbClr val="F4A259"/>
                </a:solidFill>
                <a:latin typeface="Calibri"/>
                <a:ea typeface="Calibri"/>
              </a:rPr>
              <a:t>CURRENT STUDENT PROJECT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6537960" y="2030040"/>
            <a:ext cx="4616280" cy="86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2999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Cambria"/>
                <a:ea typeface="Cambria"/>
              </a:rPr>
              <a:t>Autonomous Search and Rescue Mobile Robot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6537960" y="297180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701"/>
              </a:lnSpc>
              <a:buNone/>
              <a:tabLst>
                <a:tab pos="0" algn="l"/>
              </a:tabLst>
            </a:pPr>
            <a:r>
              <a:rPr lang="en-US" sz="1250" b="0" strike="noStrike" spc="-1">
                <a:solidFill>
                  <a:srgbClr val="8FD3DF"/>
                </a:solidFill>
                <a:latin typeface="Calibri"/>
                <a:ea typeface="Calibri"/>
              </a:rPr>
              <a:t>Guiding 4 UG students team building a full autonomy stack on a physical platform.</a:t>
            </a:r>
            <a:endParaRPr lang="en-US" sz="1250" b="0" strike="noStrike" spc="-1"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6537960" y="3639240"/>
            <a:ext cx="1050120" cy="410040"/>
          </a:xfrm>
          <a:prstGeom prst="roundRect">
            <a:avLst>
              <a:gd name="adj" fmla="val 44444"/>
            </a:avLst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0" name="Text 17"/>
          <p:cNvSpPr/>
          <p:nvPr/>
        </p:nvSpPr>
        <p:spPr>
          <a:xfrm>
            <a:off x="6537960" y="3639240"/>
            <a:ext cx="105012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ROS 2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7754040" y="3639240"/>
            <a:ext cx="1233000" cy="410040"/>
          </a:xfrm>
          <a:prstGeom prst="roundRect">
            <a:avLst>
              <a:gd name="adj" fmla="val 44444"/>
            </a:avLst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2" name="Text 19"/>
          <p:cNvSpPr/>
          <p:nvPr/>
        </p:nvSpPr>
        <p:spPr>
          <a:xfrm>
            <a:off x="7754040" y="3639240"/>
            <a:ext cx="123300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Sensors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3" name="Shape 20"/>
          <p:cNvSpPr/>
          <p:nvPr/>
        </p:nvSpPr>
        <p:spPr>
          <a:xfrm>
            <a:off x="9153000" y="3639240"/>
            <a:ext cx="1644480" cy="410040"/>
          </a:xfrm>
          <a:prstGeom prst="roundRect">
            <a:avLst>
              <a:gd name="adj" fmla="val 44444"/>
            </a:avLst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4" name="Text 21"/>
          <p:cNvSpPr/>
          <p:nvPr/>
        </p:nvSpPr>
        <p:spPr>
          <a:xfrm>
            <a:off x="9153000" y="3639240"/>
            <a:ext cx="164448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Localization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5" name="Shape 22"/>
          <p:cNvSpPr/>
          <p:nvPr/>
        </p:nvSpPr>
        <p:spPr>
          <a:xfrm>
            <a:off x="6537960" y="4206240"/>
            <a:ext cx="1598760" cy="410040"/>
          </a:xfrm>
          <a:prstGeom prst="roundRect">
            <a:avLst>
              <a:gd name="adj" fmla="val 44444"/>
            </a:avLst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6" name="Text 23"/>
          <p:cNvSpPr/>
          <p:nvPr/>
        </p:nvSpPr>
        <p:spPr>
          <a:xfrm>
            <a:off x="6537960" y="4206240"/>
            <a:ext cx="159876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Navigation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7" name="Shape 24"/>
          <p:cNvSpPr/>
          <p:nvPr/>
        </p:nvSpPr>
        <p:spPr>
          <a:xfrm>
            <a:off x="8302680" y="4206240"/>
            <a:ext cx="2147400" cy="410040"/>
          </a:xfrm>
          <a:prstGeom prst="roundRect">
            <a:avLst>
              <a:gd name="adj" fmla="val 44444"/>
            </a:avLst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Text 25"/>
          <p:cNvSpPr/>
          <p:nvPr/>
        </p:nvSpPr>
        <p:spPr>
          <a:xfrm>
            <a:off x="8302680" y="4206240"/>
            <a:ext cx="214740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Obstacle Avoidance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9" name="Shape 26"/>
          <p:cNvSpPr/>
          <p:nvPr/>
        </p:nvSpPr>
        <p:spPr>
          <a:xfrm>
            <a:off x="10607040" y="4800600"/>
            <a:ext cx="547200" cy="547200"/>
          </a:xfrm>
          <a:prstGeom prst="ellipse">
            <a:avLst/>
          </a:prstGeom>
          <a:solidFill>
            <a:srgbClr val="123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20" name="Image 0" descr="preencoded.png"/>
          <p:cNvPicPr/>
          <p:nvPr/>
        </p:nvPicPr>
        <p:blipFill>
          <a:blip r:embed="rId3"/>
          <a:stretch/>
        </p:blipFill>
        <p:spPr>
          <a:xfrm>
            <a:off x="10755000" y="4948560"/>
            <a:ext cx="250920" cy="250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685800" y="457200"/>
            <a:ext cx="731376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strike="noStrike" spc="-1">
                <a:solidFill>
                  <a:srgbClr val="0E2A33"/>
                </a:solidFill>
                <a:latin typeface="Cambria"/>
                <a:ea typeface="Cambria"/>
              </a:rPr>
              <a:t>Future Research Plan</a:t>
            </a:r>
            <a:endParaRPr lang="en-US" sz="3400" b="0" strike="noStrike" spc="-1"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685800" y="1234440"/>
            <a:ext cx="5119200" cy="3427560"/>
          </a:xfrm>
          <a:prstGeom prst="roundRect">
            <a:avLst>
              <a:gd name="adj" fmla="val 1333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Shape 2"/>
          <p:cNvSpPr/>
          <p:nvPr/>
        </p:nvSpPr>
        <p:spPr>
          <a:xfrm>
            <a:off x="1005840" y="1536120"/>
            <a:ext cx="419040" cy="419040"/>
          </a:xfrm>
          <a:prstGeom prst="ellipse">
            <a:avLst/>
          </a:prstGeom>
          <a:solidFill>
            <a:srgbClr val="1B9A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24" name="Image 0" descr="preencoded.png"/>
          <p:cNvPicPr/>
          <p:nvPr/>
        </p:nvPicPr>
        <p:blipFill>
          <a:blip r:embed="rId3"/>
          <a:stretch/>
        </p:blipFill>
        <p:spPr>
          <a:xfrm>
            <a:off x="1119240" y="1649880"/>
            <a:ext cx="191880" cy="191880"/>
          </a:xfrm>
          <a:prstGeom prst="rect">
            <a:avLst/>
          </a:prstGeom>
          <a:ln w="0">
            <a:noFill/>
          </a:ln>
        </p:spPr>
      </p:pic>
      <p:sp>
        <p:nvSpPr>
          <p:cNvPr id="125" name="Text 3"/>
          <p:cNvSpPr/>
          <p:nvPr/>
        </p:nvSpPr>
        <p:spPr>
          <a:xfrm>
            <a:off x="1554480" y="1536120"/>
            <a:ext cx="3930480" cy="4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1" strike="noStrike" spc="-1">
                <a:solidFill>
                  <a:srgbClr val="0E2A33"/>
                </a:solidFill>
                <a:latin typeface="Cambria"/>
                <a:ea typeface="Cambria"/>
              </a:rPr>
              <a:t>Short-Term</a:t>
            </a:r>
            <a:endParaRPr lang="en-US" sz="2100" b="0" strike="noStrike" spc="-1"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1069920" y="2354760"/>
            <a:ext cx="99000" cy="99000"/>
          </a:xfrm>
          <a:prstGeom prst="ellipse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Text 5"/>
          <p:cNvSpPr/>
          <p:nvPr/>
        </p:nvSpPr>
        <p:spPr>
          <a:xfrm>
            <a:off x="1344240" y="2212920"/>
            <a:ext cx="411336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1F2D33"/>
                </a:solidFill>
                <a:latin typeface="Calibri"/>
                <a:ea typeface="Calibri"/>
              </a:rPr>
              <a:t>Robust localization and navigation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28" name="Shape 6"/>
          <p:cNvSpPr/>
          <p:nvPr/>
        </p:nvSpPr>
        <p:spPr>
          <a:xfrm>
            <a:off x="1069920" y="2811960"/>
            <a:ext cx="99000" cy="99000"/>
          </a:xfrm>
          <a:prstGeom prst="ellipse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Text 7"/>
          <p:cNvSpPr/>
          <p:nvPr/>
        </p:nvSpPr>
        <p:spPr>
          <a:xfrm>
            <a:off x="1344240" y="2670120"/>
            <a:ext cx="411336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1F2D33"/>
                </a:solidFill>
                <a:latin typeface="Calibri"/>
                <a:ea typeface="Calibri"/>
              </a:rPr>
              <a:t>Unknown and dynamic environments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1069920" y="3269160"/>
            <a:ext cx="99000" cy="99000"/>
          </a:xfrm>
          <a:prstGeom prst="ellipse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1" name="Text 9"/>
          <p:cNvSpPr/>
          <p:nvPr/>
        </p:nvSpPr>
        <p:spPr>
          <a:xfrm>
            <a:off x="1344240" y="3127320"/>
            <a:ext cx="411336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1F2D33"/>
                </a:solidFill>
                <a:latin typeface="Calibri"/>
                <a:ea typeface="Calibri"/>
              </a:rPr>
              <a:t>Improved coverage path planning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6355080" y="1234440"/>
            <a:ext cx="5119200" cy="3427560"/>
          </a:xfrm>
          <a:prstGeom prst="roundRect">
            <a:avLst>
              <a:gd name="adj" fmla="val 1333"/>
            </a:avLst>
          </a:prstGeom>
          <a:solidFill>
            <a:srgbClr val="F1F5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3" name="Shape 11"/>
          <p:cNvSpPr/>
          <p:nvPr/>
        </p:nvSpPr>
        <p:spPr>
          <a:xfrm>
            <a:off x="6675120" y="1536120"/>
            <a:ext cx="419040" cy="419040"/>
          </a:xfrm>
          <a:prstGeom prst="ellipse">
            <a:avLst/>
          </a:prstGeom>
          <a:solidFill>
            <a:srgbClr val="1B9A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34" name="Image 1" descr="preencoded.png"/>
          <p:cNvPicPr/>
          <p:nvPr/>
        </p:nvPicPr>
        <p:blipFill>
          <a:blip r:embed="rId4"/>
          <a:stretch/>
        </p:blipFill>
        <p:spPr>
          <a:xfrm>
            <a:off x="6788520" y="1649880"/>
            <a:ext cx="191880" cy="191880"/>
          </a:xfrm>
          <a:prstGeom prst="rect">
            <a:avLst/>
          </a:prstGeom>
          <a:ln w="0">
            <a:noFill/>
          </a:ln>
        </p:spPr>
      </p:pic>
      <p:sp>
        <p:nvSpPr>
          <p:cNvPr id="135" name="Text 12"/>
          <p:cNvSpPr/>
          <p:nvPr/>
        </p:nvSpPr>
        <p:spPr>
          <a:xfrm>
            <a:off x="7223760" y="1536120"/>
            <a:ext cx="3930480" cy="4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1" strike="noStrike" spc="-1">
                <a:solidFill>
                  <a:srgbClr val="0E2A33"/>
                </a:solidFill>
                <a:latin typeface="Cambria"/>
                <a:ea typeface="Cambria"/>
              </a:rPr>
              <a:t>Long-Term</a:t>
            </a:r>
            <a:endParaRPr lang="en-US" sz="2100" b="0" strike="noStrike" spc="-1"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6739200" y="2354760"/>
            <a:ext cx="99000" cy="99000"/>
          </a:xfrm>
          <a:prstGeom prst="ellipse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Text 14"/>
          <p:cNvSpPr/>
          <p:nvPr/>
        </p:nvSpPr>
        <p:spPr>
          <a:xfrm>
            <a:off x="7013520" y="2212920"/>
            <a:ext cx="411336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1F2D33"/>
                </a:solidFill>
                <a:latin typeface="Calibri"/>
                <a:ea typeface="Calibri"/>
              </a:rPr>
              <a:t>AI-assisted autonomous navigation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6739200" y="2811960"/>
            <a:ext cx="99000" cy="99000"/>
          </a:xfrm>
          <a:prstGeom prst="ellipse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" name="Text 16"/>
          <p:cNvSpPr/>
          <p:nvPr/>
        </p:nvSpPr>
        <p:spPr>
          <a:xfrm>
            <a:off x="7013520" y="2670120"/>
            <a:ext cx="411336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1F2D33"/>
                </a:solidFill>
                <a:latin typeface="Calibri"/>
                <a:ea typeface="Calibri"/>
              </a:rPr>
              <a:t>Multi-robot exploration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0" name="Shape 17"/>
          <p:cNvSpPr/>
          <p:nvPr/>
        </p:nvSpPr>
        <p:spPr>
          <a:xfrm>
            <a:off x="6739200" y="3269160"/>
            <a:ext cx="99000" cy="99000"/>
          </a:xfrm>
          <a:prstGeom prst="ellipse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Text 18"/>
          <p:cNvSpPr/>
          <p:nvPr/>
        </p:nvSpPr>
        <p:spPr>
          <a:xfrm>
            <a:off x="7013520" y="3127320"/>
            <a:ext cx="411336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1F2D33"/>
                </a:solidFill>
                <a:latin typeface="Calibri"/>
                <a:ea typeface="Calibri"/>
              </a:rPr>
              <a:t>Search and rescue robotics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6739200" y="3726360"/>
            <a:ext cx="99000" cy="99000"/>
          </a:xfrm>
          <a:prstGeom prst="ellipse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Text 20"/>
          <p:cNvSpPr/>
          <p:nvPr/>
        </p:nvSpPr>
        <p:spPr>
          <a:xfrm>
            <a:off x="7013520" y="3584520"/>
            <a:ext cx="411336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1F2D33"/>
                </a:solidFill>
                <a:latin typeface="Calibri"/>
                <a:ea typeface="Calibri"/>
              </a:rPr>
              <a:t>Real-world experimental validation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4" name="Shape 21"/>
          <p:cNvSpPr/>
          <p:nvPr/>
        </p:nvSpPr>
        <p:spPr>
          <a:xfrm>
            <a:off x="6739200" y="4183560"/>
            <a:ext cx="99000" cy="99000"/>
          </a:xfrm>
          <a:prstGeom prst="ellipse">
            <a:avLst/>
          </a:prstGeom>
          <a:solidFill>
            <a:srgbClr val="F4A2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Text 22"/>
          <p:cNvSpPr/>
          <p:nvPr/>
        </p:nvSpPr>
        <p:spPr>
          <a:xfrm>
            <a:off x="7013520" y="4041720"/>
            <a:ext cx="4113360" cy="3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1F2D33"/>
                </a:solidFill>
                <a:latin typeface="Calibri"/>
                <a:ea typeface="Calibri"/>
              </a:rPr>
              <a:t>Industry and academic collaboration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6" name="Shape 23"/>
          <p:cNvSpPr/>
          <p:nvPr/>
        </p:nvSpPr>
        <p:spPr>
          <a:xfrm>
            <a:off x="685800" y="5029200"/>
            <a:ext cx="10788480" cy="1050120"/>
          </a:xfrm>
          <a:prstGeom prst="roundRect">
            <a:avLst>
              <a:gd name="adj" fmla="val 4348"/>
            </a:avLst>
          </a:prstGeom>
          <a:solidFill>
            <a:srgbClr val="0E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Text 24"/>
          <p:cNvSpPr/>
          <p:nvPr/>
        </p:nvSpPr>
        <p:spPr>
          <a:xfrm>
            <a:off x="1051560" y="5193720"/>
            <a:ext cx="36561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191">
                <a:solidFill>
                  <a:srgbClr val="F4A259"/>
                </a:solidFill>
                <a:latin typeface="Calibri"/>
                <a:ea typeface="Calibri"/>
              </a:rPr>
              <a:t>RESEARCH GOAL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1051560" y="5449680"/>
            <a:ext cx="996552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1" strike="noStrike" spc="-1">
                <a:solidFill>
                  <a:srgbClr val="FFFFFF"/>
                </a:solidFill>
                <a:latin typeface="Cambria"/>
                <a:ea typeface="Cambria"/>
              </a:rPr>
              <a:t>Reliable autonomous mobile robots for real-world environments</a:t>
            </a:r>
            <a:endParaRPr lang="en-US" sz="2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685800" y="411480"/>
            <a:ext cx="731376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Teaching Plan</a:t>
            </a:r>
            <a:endParaRPr lang="en-US" sz="3400" b="0" strike="noStrike" spc="-1"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685800" y="1207080"/>
            <a:ext cx="2010240" cy="547200"/>
          </a:xfrm>
          <a:prstGeom prst="roundRect">
            <a:avLst>
              <a:gd name="adj" fmla="val 33333"/>
            </a:avLst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1" name="Text 2"/>
          <p:cNvSpPr/>
          <p:nvPr/>
        </p:nvSpPr>
        <p:spPr>
          <a:xfrm>
            <a:off x="685800" y="1207080"/>
            <a:ext cx="201024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Fundamentals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2697480" y="1207080"/>
            <a:ext cx="2545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4A259"/>
                </a:solidFill>
                <a:latin typeface="Calibri"/>
                <a:ea typeface="Calibri"/>
              </a:rPr>
              <a:t>›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53" name="Shape 4"/>
          <p:cNvSpPr/>
          <p:nvPr/>
        </p:nvSpPr>
        <p:spPr>
          <a:xfrm>
            <a:off x="2953440" y="1207080"/>
            <a:ext cx="2010240" cy="547200"/>
          </a:xfrm>
          <a:prstGeom prst="roundRect">
            <a:avLst>
              <a:gd name="adj" fmla="val 33333"/>
            </a:avLst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4" name="Text 5"/>
          <p:cNvSpPr/>
          <p:nvPr/>
        </p:nvSpPr>
        <p:spPr>
          <a:xfrm>
            <a:off x="2953440" y="1207080"/>
            <a:ext cx="201024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Programming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4965120" y="1207080"/>
            <a:ext cx="2545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4A259"/>
                </a:solidFill>
                <a:latin typeface="Calibri"/>
                <a:ea typeface="Calibri"/>
              </a:rPr>
              <a:t>›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5221080" y="1207080"/>
            <a:ext cx="2010240" cy="547200"/>
          </a:xfrm>
          <a:prstGeom prst="roundRect">
            <a:avLst>
              <a:gd name="adj" fmla="val 33333"/>
            </a:avLst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Text 8"/>
          <p:cNvSpPr/>
          <p:nvPr/>
        </p:nvSpPr>
        <p:spPr>
          <a:xfrm>
            <a:off x="5221080" y="1207080"/>
            <a:ext cx="201024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Simulation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7232760" y="1207080"/>
            <a:ext cx="2545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4A259"/>
                </a:solidFill>
                <a:latin typeface="Calibri"/>
                <a:ea typeface="Calibri"/>
              </a:rPr>
              <a:t>›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7489080" y="1207080"/>
            <a:ext cx="2010240" cy="547200"/>
          </a:xfrm>
          <a:prstGeom prst="roundRect">
            <a:avLst>
              <a:gd name="adj" fmla="val 33333"/>
            </a:avLst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Text 11"/>
          <p:cNvSpPr/>
          <p:nvPr/>
        </p:nvSpPr>
        <p:spPr>
          <a:xfrm>
            <a:off x="7489080" y="1207080"/>
            <a:ext cx="201024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Hardware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9500760" y="1207080"/>
            <a:ext cx="2545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4A259"/>
                </a:solidFill>
                <a:latin typeface="Calibri"/>
                <a:ea typeface="Calibri"/>
              </a:rPr>
              <a:t>›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62" name="Shape 13"/>
          <p:cNvSpPr/>
          <p:nvPr/>
        </p:nvSpPr>
        <p:spPr>
          <a:xfrm>
            <a:off x="9756720" y="1207080"/>
            <a:ext cx="2010240" cy="547200"/>
          </a:xfrm>
          <a:prstGeom prst="roundRect">
            <a:avLst>
              <a:gd name="adj" fmla="val 33333"/>
            </a:avLst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3" name="Text 14"/>
          <p:cNvSpPr/>
          <p:nvPr/>
        </p:nvSpPr>
        <p:spPr>
          <a:xfrm>
            <a:off x="9756720" y="1207080"/>
            <a:ext cx="201024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Project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64" name="Shape 15"/>
          <p:cNvSpPr/>
          <p:nvPr/>
        </p:nvSpPr>
        <p:spPr>
          <a:xfrm>
            <a:off x="685800" y="2148840"/>
            <a:ext cx="3500640" cy="958680"/>
          </a:xfrm>
          <a:prstGeom prst="roundRect">
            <a:avLst>
              <a:gd name="adj" fmla="val 4762"/>
            </a:avLst>
          </a:prstGeom>
          <a:solidFill>
            <a:srgbClr val="123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5" name="Shape 16"/>
          <p:cNvSpPr/>
          <p:nvPr/>
        </p:nvSpPr>
        <p:spPr>
          <a:xfrm>
            <a:off x="941760" y="2423160"/>
            <a:ext cx="410040" cy="410040"/>
          </a:xfrm>
          <a:prstGeom prst="ellipse">
            <a:avLst/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66" name="Image 0" descr="preencoded.png"/>
          <p:cNvPicPr/>
          <p:nvPr/>
        </p:nvPicPr>
        <p:blipFill>
          <a:blip r:embed="rId3"/>
          <a:stretch/>
        </p:blipFill>
        <p:spPr>
          <a:xfrm>
            <a:off x="1053000" y="2534400"/>
            <a:ext cx="187920" cy="187920"/>
          </a:xfrm>
          <a:prstGeom prst="rect">
            <a:avLst/>
          </a:prstGeom>
          <a:ln w="0">
            <a:noFill/>
          </a:ln>
        </p:spPr>
      </p:pic>
      <p:sp>
        <p:nvSpPr>
          <p:cNvPr id="167" name="Text 17"/>
          <p:cNvSpPr/>
          <p:nvPr/>
        </p:nvSpPr>
        <p:spPr>
          <a:xfrm>
            <a:off x="1490400" y="2240280"/>
            <a:ext cx="2494800" cy="77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00"/>
              </a:lnSpc>
              <a:buNone/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  <a:ea typeface="Calibri"/>
              </a:rPr>
              <a:t>Robotics and Autonomous Systems</a:t>
            </a:r>
            <a:endParaRPr lang="en-US" sz="1350" b="0" strike="noStrike" spc="-1">
              <a:latin typeface="Arial"/>
            </a:endParaRPr>
          </a:p>
        </p:txBody>
      </p:sp>
      <p:sp>
        <p:nvSpPr>
          <p:cNvPr id="168" name="Shape 18"/>
          <p:cNvSpPr/>
          <p:nvPr/>
        </p:nvSpPr>
        <p:spPr>
          <a:xfrm>
            <a:off x="4489560" y="2148840"/>
            <a:ext cx="3500640" cy="958680"/>
          </a:xfrm>
          <a:prstGeom prst="roundRect">
            <a:avLst>
              <a:gd name="adj" fmla="val 4762"/>
            </a:avLst>
          </a:prstGeom>
          <a:solidFill>
            <a:srgbClr val="123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Shape 19"/>
          <p:cNvSpPr/>
          <p:nvPr/>
        </p:nvSpPr>
        <p:spPr>
          <a:xfrm>
            <a:off x="4745880" y="2423160"/>
            <a:ext cx="410040" cy="410040"/>
          </a:xfrm>
          <a:prstGeom prst="ellipse">
            <a:avLst/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0" name="Image 1" descr="preencoded.png"/>
          <p:cNvPicPr/>
          <p:nvPr/>
        </p:nvPicPr>
        <p:blipFill>
          <a:blip r:embed="rId4"/>
          <a:stretch/>
        </p:blipFill>
        <p:spPr>
          <a:xfrm>
            <a:off x="4856760" y="2534400"/>
            <a:ext cx="187920" cy="187920"/>
          </a:xfrm>
          <a:prstGeom prst="rect">
            <a:avLst/>
          </a:prstGeom>
          <a:ln w="0">
            <a:noFill/>
          </a:ln>
        </p:spPr>
      </p:pic>
      <p:sp>
        <p:nvSpPr>
          <p:cNvPr id="171" name="Text 20"/>
          <p:cNvSpPr/>
          <p:nvPr/>
        </p:nvSpPr>
        <p:spPr>
          <a:xfrm>
            <a:off x="5294520" y="2240280"/>
            <a:ext cx="2494800" cy="77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00"/>
              </a:lnSpc>
              <a:buNone/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  <a:ea typeface="Calibri"/>
              </a:rPr>
              <a:t>ROS 2 and Robot Programming</a:t>
            </a:r>
            <a:endParaRPr lang="en-US" sz="1350" b="0" strike="noStrike" spc="-1"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>
            <a:off x="8293680" y="2148840"/>
            <a:ext cx="3500640" cy="958680"/>
          </a:xfrm>
          <a:prstGeom prst="roundRect">
            <a:avLst>
              <a:gd name="adj" fmla="val 4762"/>
            </a:avLst>
          </a:prstGeom>
          <a:solidFill>
            <a:srgbClr val="123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Shape 22"/>
          <p:cNvSpPr/>
          <p:nvPr/>
        </p:nvSpPr>
        <p:spPr>
          <a:xfrm>
            <a:off x="8549640" y="2423160"/>
            <a:ext cx="410040" cy="410040"/>
          </a:xfrm>
          <a:prstGeom prst="ellipse">
            <a:avLst/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4" name="Image 2" descr="preencoded.png"/>
          <p:cNvPicPr/>
          <p:nvPr/>
        </p:nvPicPr>
        <p:blipFill>
          <a:blip r:embed="rId5"/>
          <a:stretch/>
        </p:blipFill>
        <p:spPr>
          <a:xfrm>
            <a:off x="8660880" y="2534400"/>
            <a:ext cx="187920" cy="187920"/>
          </a:xfrm>
          <a:prstGeom prst="rect">
            <a:avLst/>
          </a:prstGeom>
          <a:ln w="0">
            <a:noFill/>
          </a:ln>
        </p:spPr>
      </p:pic>
      <p:sp>
        <p:nvSpPr>
          <p:cNvPr id="175" name="Text 23"/>
          <p:cNvSpPr/>
          <p:nvPr/>
        </p:nvSpPr>
        <p:spPr>
          <a:xfrm>
            <a:off x="9098280" y="2240280"/>
            <a:ext cx="2494800" cy="77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00"/>
              </a:lnSpc>
              <a:buNone/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  <a:ea typeface="Calibri"/>
              </a:rPr>
              <a:t>C++ and Python</a:t>
            </a:r>
            <a:endParaRPr lang="en-US" sz="1350" b="0" strike="noStrike" spc="-1">
              <a:latin typeface="Arial"/>
            </a:endParaRPr>
          </a:p>
        </p:txBody>
      </p:sp>
      <p:sp>
        <p:nvSpPr>
          <p:cNvPr id="176" name="Shape 24"/>
          <p:cNvSpPr/>
          <p:nvPr/>
        </p:nvSpPr>
        <p:spPr>
          <a:xfrm>
            <a:off x="685800" y="3291840"/>
            <a:ext cx="3500640" cy="958680"/>
          </a:xfrm>
          <a:prstGeom prst="roundRect">
            <a:avLst>
              <a:gd name="adj" fmla="val 4762"/>
            </a:avLst>
          </a:prstGeom>
          <a:solidFill>
            <a:srgbClr val="123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Shape 25"/>
          <p:cNvSpPr/>
          <p:nvPr/>
        </p:nvSpPr>
        <p:spPr>
          <a:xfrm>
            <a:off x="941760" y="3566160"/>
            <a:ext cx="410040" cy="410040"/>
          </a:xfrm>
          <a:prstGeom prst="ellipse">
            <a:avLst/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8" name="Image 3" descr="preencoded.png"/>
          <p:cNvPicPr/>
          <p:nvPr/>
        </p:nvPicPr>
        <p:blipFill>
          <a:blip r:embed="rId6"/>
          <a:stretch/>
        </p:blipFill>
        <p:spPr>
          <a:xfrm>
            <a:off x="1053000" y="3677400"/>
            <a:ext cx="187920" cy="187920"/>
          </a:xfrm>
          <a:prstGeom prst="rect">
            <a:avLst/>
          </a:prstGeom>
          <a:ln w="0">
            <a:noFill/>
          </a:ln>
        </p:spPr>
      </p:pic>
      <p:sp>
        <p:nvSpPr>
          <p:cNvPr id="179" name="Text 26"/>
          <p:cNvSpPr/>
          <p:nvPr/>
        </p:nvSpPr>
        <p:spPr>
          <a:xfrm>
            <a:off x="1490400" y="3383280"/>
            <a:ext cx="2494800" cy="77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00"/>
              </a:lnSpc>
              <a:buNone/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  <a:ea typeface="Calibri"/>
              </a:rPr>
              <a:t>Computer Vision</a:t>
            </a:r>
            <a:endParaRPr lang="en-US" sz="1350" b="0" strike="noStrike" spc="-1">
              <a:latin typeface="Arial"/>
            </a:endParaRPr>
          </a:p>
        </p:txBody>
      </p:sp>
      <p:sp>
        <p:nvSpPr>
          <p:cNvPr id="180" name="Shape 27"/>
          <p:cNvSpPr/>
          <p:nvPr/>
        </p:nvSpPr>
        <p:spPr>
          <a:xfrm>
            <a:off x="4489560" y="3291840"/>
            <a:ext cx="3500640" cy="958680"/>
          </a:xfrm>
          <a:prstGeom prst="roundRect">
            <a:avLst>
              <a:gd name="adj" fmla="val 4762"/>
            </a:avLst>
          </a:prstGeom>
          <a:solidFill>
            <a:srgbClr val="123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1" name="Shape 28"/>
          <p:cNvSpPr/>
          <p:nvPr/>
        </p:nvSpPr>
        <p:spPr>
          <a:xfrm>
            <a:off x="4745880" y="3566160"/>
            <a:ext cx="410040" cy="410040"/>
          </a:xfrm>
          <a:prstGeom prst="ellipse">
            <a:avLst/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82" name="Image 4" descr="preencoded.png"/>
          <p:cNvPicPr/>
          <p:nvPr/>
        </p:nvPicPr>
        <p:blipFill>
          <a:blip r:embed="rId7"/>
          <a:stretch/>
        </p:blipFill>
        <p:spPr>
          <a:xfrm>
            <a:off x="4856760" y="3677400"/>
            <a:ext cx="187920" cy="187920"/>
          </a:xfrm>
          <a:prstGeom prst="rect">
            <a:avLst/>
          </a:prstGeom>
          <a:ln w="0">
            <a:noFill/>
          </a:ln>
        </p:spPr>
      </p:pic>
      <p:sp>
        <p:nvSpPr>
          <p:cNvPr id="183" name="Text 29"/>
          <p:cNvSpPr/>
          <p:nvPr/>
        </p:nvSpPr>
        <p:spPr>
          <a:xfrm>
            <a:off x="5294520" y="3383280"/>
            <a:ext cx="2494800" cy="77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00"/>
              </a:lnSpc>
              <a:buNone/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  <a:ea typeface="Calibri"/>
              </a:rPr>
              <a:t>Control Systems</a:t>
            </a:r>
            <a:endParaRPr lang="en-US" sz="1350" b="0" strike="noStrike" spc="-1">
              <a:latin typeface="Arial"/>
            </a:endParaRPr>
          </a:p>
        </p:txBody>
      </p:sp>
      <p:sp>
        <p:nvSpPr>
          <p:cNvPr id="184" name="Shape 30"/>
          <p:cNvSpPr/>
          <p:nvPr/>
        </p:nvSpPr>
        <p:spPr>
          <a:xfrm>
            <a:off x="8293680" y="3291840"/>
            <a:ext cx="3500640" cy="958680"/>
          </a:xfrm>
          <a:prstGeom prst="roundRect">
            <a:avLst>
              <a:gd name="adj" fmla="val 4762"/>
            </a:avLst>
          </a:prstGeom>
          <a:solidFill>
            <a:srgbClr val="123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5" name="Shape 31"/>
          <p:cNvSpPr/>
          <p:nvPr/>
        </p:nvSpPr>
        <p:spPr>
          <a:xfrm>
            <a:off x="8549640" y="3566160"/>
            <a:ext cx="410040" cy="410040"/>
          </a:xfrm>
          <a:prstGeom prst="ellipse">
            <a:avLst/>
          </a:prstGeom>
          <a:solidFill>
            <a:srgbClr val="1657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86" name="Image 5" descr="preencoded.png"/>
          <p:cNvPicPr/>
          <p:nvPr/>
        </p:nvPicPr>
        <p:blipFill>
          <a:blip r:embed="rId8"/>
          <a:stretch/>
        </p:blipFill>
        <p:spPr>
          <a:xfrm>
            <a:off x="8660880" y="3677400"/>
            <a:ext cx="187920" cy="187920"/>
          </a:xfrm>
          <a:prstGeom prst="rect">
            <a:avLst/>
          </a:prstGeom>
          <a:ln w="0">
            <a:noFill/>
          </a:ln>
        </p:spPr>
      </p:pic>
      <p:sp>
        <p:nvSpPr>
          <p:cNvPr id="187" name="Text 32"/>
          <p:cNvSpPr/>
          <p:nvPr/>
        </p:nvSpPr>
        <p:spPr>
          <a:xfrm>
            <a:off x="9098280" y="3383280"/>
            <a:ext cx="2494800" cy="77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1800"/>
              </a:lnSpc>
              <a:buNone/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  <a:ea typeface="Calibri"/>
              </a:rPr>
              <a:t>Design Thinking &amp; Project-Based Learning</a:t>
            </a:r>
            <a:endParaRPr lang="en-US" sz="1350" b="0" strike="noStrike" spc="-1">
              <a:latin typeface="Arial"/>
            </a:endParaRPr>
          </a:p>
        </p:txBody>
      </p:sp>
      <p:sp>
        <p:nvSpPr>
          <p:cNvPr id="188" name="Shape 33"/>
          <p:cNvSpPr/>
          <p:nvPr/>
        </p:nvSpPr>
        <p:spPr>
          <a:xfrm>
            <a:off x="685800" y="4663440"/>
            <a:ext cx="10789920" cy="360"/>
          </a:xfrm>
          <a:prstGeom prst="line">
            <a:avLst/>
          </a:prstGeom>
          <a:ln w="12700">
            <a:solidFill>
              <a:srgbClr val="1E4A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9" name="Text 34"/>
          <p:cNvSpPr/>
          <p:nvPr/>
        </p:nvSpPr>
        <p:spPr>
          <a:xfrm>
            <a:off x="685800" y="4846320"/>
            <a:ext cx="36561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191">
                <a:solidFill>
                  <a:srgbClr val="F4A259"/>
                </a:solidFill>
                <a:latin typeface="Calibri"/>
                <a:ea typeface="Calibri"/>
              </a:rPr>
              <a:t>TEACHING GOAL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90" name="Text 35"/>
          <p:cNvSpPr/>
          <p:nvPr/>
        </p:nvSpPr>
        <p:spPr>
          <a:xfrm>
            <a:off x="685800" y="5120640"/>
            <a:ext cx="1078848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0" strike="noStrike" spc="-1">
                <a:solidFill>
                  <a:srgbClr val="E8F1F3"/>
                </a:solidFill>
                <a:latin typeface="Calibri"/>
                <a:ea typeface="Calibri"/>
              </a:rPr>
              <a:t>Strong fundamentals, hands-on robotics implementation and research-oriented projects.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91" name="Text 36"/>
          <p:cNvSpPr/>
          <p:nvPr/>
        </p:nvSpPr>
        <p:spPr>
          <a:xfrm>
            <a:off x="685800" y="5577840"/>
            <a:ext cx="10788480" cy="68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2200"/>
              </a:lnSpc>
              <a:buNone/>
              <a:tabLst>
                <a:tab pos="0" algn="l"/>
              </a:tabLst>
            </a:pPr>
            <a:r>
              <a:rPr lang="en-US" sz="1600" b="1" i="1" strike="noStrike" spc="-1">
                <a:solidFill>
                  <a:srgbClr val="FFFFD7"/>
                </a:solidFill>
                <a:latin typeface="Cambria"/>
                <a:ea typeface="Cambria"/>
              </a:rPr>
              <a:t>“My aim is to integrate teaching, research and practical robotics experience to develop capable students and contribute to reliable autonomous robotic systems.”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91"/>
          <p:cNvSpPr/>
          <p:nvPr/>
        </p:nvSpPr>
        <p:spPr>
          <a:xfrm>
            <a:off x="228600" y="183960"/>
            <a:ext cx="11429280" cy="627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None/>
            </a:pPr>
            <a:r>
              <a:rPr lang="en-US" sz="2200" b="1" strike="noStrike" spc="-1">
                <a:solidFill>
                  <a:srgbClr val="000000"/>
                </a:solidFill>
                <a:latin typeface="Arial"/>
                <a:ea typeface="DejaVu Sans"/>
              </a:rPr>
              <a:t>Journal Publications</a:t>
            </a:r>
            <a:endParaRPr lang="en-US" sz="22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None/>
            </a:pPr>
            <a:endParaRPr lang="en-US" sz="2200" b="0" strike="noStrike" spc="-1"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Clr>
                <a:srgbClr val="000000"/>
              </a:buClr>
              <a:buFont typeface="StarSymbol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Sharma, Monex, and Hari Kumar Voruganti. "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Multi-objective optimization approach for coverage path planning of mobile robot.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" </a:t>
            </a:r>
            <a:r>
              <a:rPr lang="en-US" sz="1800" b="0" strike="noStrike" spc="-1">
                <a:solidFill>
                  <a:srgbClr val="FF0000"/>
                </a:solidFill>
                <a:latin typeface="Arial"/>
                <a:ea typeface="DejaVu Sans"/>
              </a:rPr>
              <a:t>Robotica (2024)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: 1-25. SCIE, IF – 2.7, Q2.</a:t>
            </a:r>
            <a:endParaRPr lang="en-US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None/>
            </a:pPr>
            <a:endParaRPr lang="en-US" sz="1800" b="0" strike="noStrike" spc="-1"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Clr>
                <a:srgbClr val="000000"/>
              </a:buClr>
              <a:buFont typeface="StarSymbol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Sharma, Monex, and Hari Kumar Voruganti. "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Energy-Efficient Coverage Path Planning for Mobile Robots on Uneven Terrain via the TA-NSGA-II Approach.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" </a:t>
            </a:r>
            <a:r>
              <a:rPr lang="en-US" sz="1800" b="0" strike="noStrike" spc="-1">
                <a:solidFill>
                  <a:srgbClr val="FF0000"/>
                </a:solidFill>
                <a:latin typeface="Arial"/>
                <a:ea typeface="DejaVu Sans"/>
              </a:rPr>
              <a:t>Arabian Journal of Science and Engineering (2025)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: 1-23. SCIE, IF – 2.9, Q1.</a:t>
            </a:r>
            <a:endParaRPr lang="en-US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None/>
            </a:pPr>
            <a:endParaRPr lang="en-US" sz="1800" b="0" strike="noStrike" spc="-1"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Clr>
                <a:srgbClr val="000000"/>
              </a:buClr>
              <a:buFont typeface="StarSymbol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Sharma, Monex, and Hari Kumar Voruganti. "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Implementation of Coverage Path Planning Based on Modified NSGA-II and Kalman Filter on GoPiGo3 Robot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.” </a:t>
            </a:r>
            <a:r>
              <a:rPr lang="en-US" sz="1800" b="0" strike="noStrike" spc="-1">
                <a:solidFill>
                  <a:srgbClr val="FF0000"/>
                </a:solidFill>
                <a:latin typeface="Arial"/>
                <a:ea typeface="DejaVu Sans"/>
              </a:rPr>
              <a:t>International Journal of Automation and Smart Technology. Scopus Journal.</a:t>
            </a:r>
            <a:endParaRPr lang="en-US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None/>
            </a:pPr>
            <a:endParaRPr lang="en-US" sz="1800" b="0" strike="noStrike" spc="-1"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Clr>
                <a:srgbClr val="000000"/>
              </a:buClr>
              <a:buFont typeface="StarSymbol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Sharma, Monex, and Hari Kumar Voruganti. "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Improved NSGA-II for offline coverage path planning with reactive velocity adaptation for moving obstacles in known environments.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” </a:t>
            </a:r>
            <a:r>
              <a:rPr lang="en-US" sz="1800" b="0" strike="noStrike" spc="-1">
                <a:solidFill>
                  <a:srgbClr val="FF0000"/>
                </a:solidFill>
                <a:latin typeface="Arial"/>
                <a:ea typeface="DejaVu Sans"/>
              </a:rPr>
              <a:t>Target Journal: Robotics and Autonomous Systems (RAS)</a:t>
            </a:r>
            <a:endParaRPr lang="en-US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None/>
            </a:pPr>
            <a:endParaRPr lang="en-US" sz="1800" b="0" strike="noStrike" spc="-1"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Clr>
                <a:srgbClr val="000000"/>
              </a:buClr>
              <a:buFont typeface="StarSymbol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Noto Sans CJK SC"/>
              </a:rPr>
              <a:t>Sharma, Monex. “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Noto Sans CJK SC"/>
              </a:rPr>
              <a:t>Localization-Aware Search and Rescue Navigation with Autonomous Return to Known Locations.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Noto Sans CJK SC"/>
              </a:rPr>
              <a:t>” </a:t>
            </a:r>
            <a:r>
              <a:rPr lang="en-US" sz="1800" b="0" strike="noStrike" spc="-1">
                <a:solidFill>
                  <a:srgbClr val="FF0000"/>
                </a:solidFill>
                <a:latin typeface="Arial"/>
                <a:ea typeface="Noto Sans CJK SC"/>
              </a:rPr>
              <a:t>Target Journal: Industrial Robot (Emerald Publishing)</a:t>
            </a:r>
            <a:endParaRPr lang="en-US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31"/>
              </a:spcBef>
              <a:spcAft>
                <a:spcPts val="145"/>
              </a:spcAft>
              <a:buNone/>
            </a:pP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92"/>
          <p:cNvSpPr/>
          <p:nvPr/>
        </p:nvSpPr>
        <p:spPr>
          <a:xfrm>
            <a:off x="829800" y="685800"/>
            <a:ext cx="10142280" cy="525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000000"/>
                </a:solidFill>
                <a:latin typeface="Arial"/>
                <a:ea typeface="DejaVu Sans"/>
              </a:rPr>
              <a:t>Conference Publications</a:t>
            </a:r>
            <a:endParaRPr lang="en-US" sz="22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en-US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en-US" sz="1800" b="0" strike="noStrike" spc="-1"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Monex Sharma, and Hari Kumar Voruganti. "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An Effective Genetic Algorithm based Multi-Objective Optimization Approach for Coverage Path Planning of Mobile Robot.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" I</a:t>
            </a:r>
            <a:r>
              <a:rPr lang="en-US" sz="1800" b="0" strike="noStrike" spc="-1">
                <a:solidFill>
                  <a:srgbClr val="FF0000"/>
                </a:solidFill>
                <a:latin typeface="Arial"/>
                <a:ea typeface="DejaVu Sans"/>
              </a:rPr>
              <a:t>nternational Conference on Advancements in Interdisciplinary Research (AIR-2022)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, 6th - 7th May 2022 at MNNIT Allahabad, Prayagraj, India, Scopus Indexed.</a:t>
            </a:r>
            <a:endParaRPr lang="en-US" sz="1800" b="0" strike="noStrike" spc="-1">
              <a:latin typeface="Arial"/>
            </a:endParaRPr>
          </a:p>
          <a:p>
            <a:pPr algn="just">
              <a:lnSpc>
                <a:spcPct val="115000"/>
              </a:lnSpc>
              <a:buNone/>
            </a:pPr>
            <a:endParaRPr lang="en-US" sz="1800" b="0" strike="noStrike" spc="-1"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Noto Sans CJK SC"/>
              </a:rPr>
              <a:t>Sharma, Monex, and Hari Kumar Voruganti. "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Noto Sans CJK SC"/>
              </a:rPr>
              <a:t>Preference Based Multi-Objective Optimization Techniques for Coverage Path Planning of a Mobile Robot.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Noto Sans CJK SC"/>
              </a:rPr>
              <a:t>" I</a:t>
            </a:r>
            <a:r>
              <a:rPr lang="en-US" sz="1800" b="0" strike="noStrike" spc="-1">
                <a:solidFill>
                  <a:srgbClr val="FF0000"/>
                </a:solidFill>
                <a:latin typeface="Arial"/>
                <a:ea typeface="Noto Sans CJK SC"/>
              </a:rPr>
              <a:t>n Proceedings of the 2023 6th International Conference on Advances in Robotics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Noto Sans CJK SC"/>
              </a:rPr>
              <a:t>, pp. 1-6. 2023, IIT Ropar. Scopus Indexed.</a:t>
            </a:r>
            <a:endParaRPr lang="en-US" sz="1800" b="0" strike="noStrike" spc="-1">
              <a:latin typeface="Arial"/>
            </a:endParaRPr>
          </a:p>
          <a:p>
            <a:pPr algn="just">
              <a:lnSpc>
                <a:spcPct val="115000"/>
              </a:lnSpc>
              <a:buNone/>
            </a:pPr>
            <a:endParaRPr lang="en-US" sz="1800" b="0" strike="noStrike" spc="-1"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Noto Sans CJK SC"/>
              </a:rPr>
              <a:t>Sharma, Monex, and Hari Kumar Voruganti. "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Noto Sans CJK SC"/>
              </a:rPr>
              <a:t>A Classical Multi-objective Approach for Coverage Path Plans for a Mobile Robot in an Uneven Terrain.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Noto Sans CJK SC"/>
              </a:rPr>
              <a:t>" </a:t>
            </a:r>
            <a:r>
              <a:rPr lang="en-US" sz="1800" b="0" strike="noStrike" spc="-1">
                <a:solidFill>
                  <a:srgbClr val="FF0000"/>
                </a:solidFill>
                <a:latin typeface="Arial"/>
                <a:ea typeface="Noto Sans CJK SC"/>
              </a:rPr>
              <a:t>6th National Conference on Multidisciplinary Design, Analysis and Optimization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Noto Sans CJK SC"/>
              </a:rPr>
              <a:t>, 2023, IIT Guwahati. Scopus Indexed.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1073</Words>
  <Application>Microsoft Office PowerPoint</Application>
  <PresentationFormat>Widescreen</PresentationFormat>
  <Paragraphs>119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</vt:lpstr>
      <vt:lpstr>StarSymbol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Interview Presentation</dc:title>
  <dc:subject>PptxGenJS Presentation</dc:subject>
  <dc:creator>Dr. Monex Sharma</dc:creator>
  <dc:description/>
  <cp:lastModifiedBy>Monex Sharma</cp:lastModifiedBy>
  <cp:revision>33</cp:revision>
  <dcterms:created xsi:type="dcterms:W3CDTF">2026-09-16T13:04:57Z</dcterms:created>
  <dcterms:modified xsi:type="dcterms:W3CDTF">2026-09-20T19:16:55Z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