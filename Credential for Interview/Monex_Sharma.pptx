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9.png" ContentType="image/png"/>
  <Override PartName="/ppt/media/image13.png" ContentType="image/png"/>
  <Override PartName="/ppt/media/image8.png" ContentType="image/png"/>
  <Override PartName="/ppt/media/image12.png" ContentType="image/png"/>
  <Override PartName="/ppt/media/image7.png" ContentType="image/png"/>
  <Override PartName="/ppt/media/image11.png" ContentType="image/png"/>
  <Override PartName="/ppt/media/image6.png" ContentType="image/png"/>
  <Override PartName="/ppt/media/image19.png" ContentType="image/png"/>
  <Override PartName="/ppt/media/image1.png" ContentType="image/png"/>
  <Override PartName="/ppt/media/image3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10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1CBA0485-213C-4D89-A43D-B7BDAE8145B7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Arial"/>
              </a:rPr>
              <a:t>Good morning. I am Monex Sharma. I completed my Ph.D. in Robotics at NIT Warangal, where my thesis developed a terrain-adaptive, multi-objective coverage path planner for mobile robots based on an improved NSGA-II. My background is B.Tech in Robotics and Automation, and I have both research and industrial experience in mobile robotics, working day to day in C++, Python, ROS 2, MATLAB and Webots.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15BEC0B-DB02-4441-B9A4-099A4CF9EBA9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Arial"/>
              </a:rPr>
              <a:t>My work sits at the intersection of navigation, coverage path planning and multi-objective optimization, with localization and sensor fusion underneath it. I have taken methods from formulation through simulation to real hardware, and my industrial experience in SLAM and motion planning keeps that work grounded in what actually deploys.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7D59460-9428-40BE-A2E0-E13CB812F8B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Arial"/>
              </a:rPr>
              <a:t>Currently I am focused on uncertainty-aware navigation: making localization, exploration and obstacle avoidance robust when the map and the sensing are both imperfect. That research feeds directly into the student project I am guiding, an autonomous search-and-rescue robot built on ROS 2 with a complete perception-to-navigation stack.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EDE1DA7-1263-48A7-8AB4-E6C36B784C78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Arial"/>
              </a:rPr>
              <a:t>In the short term I want to harden localization and navigation for unknown and dynamic environments and extend my coverage planning work. Longer term I am aiming at AI-assisted navigation, multi-robot exploration and search-and-rescue, always validated on real hardware and, wherever possible, with industry partners. The single goal behind all of it is reliability in the real world.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576D4F9-4BF2-4F7E-9F69-EBD9176C94F9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latin typeface="Arial"/>
              </a:rPr>
              <a:t>My teaching follows one arc: fundamentals, then programming, then simulation, then hardware, then an open project. I can teach robotics and autonomous systems, ROS 2, C++ and Python, computer vision and control systems, and I like running design-thinking and project-based courses. To close: my aim is to integrate teaching, research and practical robotics experience to develop capable students and contribute to reliable autonomous robotic systems. Thank you.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5AC5BD8-A06B-427E-96FB-FDB99BFA62BC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0"/>
          <p:cNvSpPr/>
          <p:nvPr/>
        </p:nvSpPr>
        <p:spPr>
          <a:xfrm>
            <a:off x="685800" y="914400"/>
            <a:ext cx="603396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mbria"/>
                <a:ea typeface="Cambria"/>
              </a:rPr>
              <a:t>Dr. Monex Sharma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45" name="Text 1"/>
          <p:cNvSpPr/>
          <p:nvPr/>
        </p:nvSpPr>
        <p:spPr>
          <a:xfrm>
            <a:off x="685800" y="1627560"/>
            <a:ext cx="60339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rgbClr val="8fd3df"/>
                </a:solidFill>
                <a:latin typeface="Calibri"/>
                <a:ea typeface="Calibri"/>
              </a:rPr>
              <a:t>Ph.D. in Robotics  ·  NIT Warangal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46" name="Shape 2"/>
          <p:cNvSpPr/>
          <p:nvPr/>
        </p:nvSpPr>
        <p:spPr>
          <a:xfrm>
            <a:off x="685800" y="2286000"/>
            <a:ext cx="5851080" cy="1187640"/>
          </a:xfrm>
          <a:prstGeom prst="roundRect">
            <a:avLst>
              <a:gd name="adj" fmla="val 6154"/>
            </a:avLst>
          </a:prstGeom>
          <a:solidFill>
            <a:srgbClr val="123b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Text 3"/>
          <p:cNvSpPr/>
          <p:nvPr/>
        </p:nvSpPr>
        <p:spPr>
          <a:xfrm>
            <a:off x="960120" y="2441520"/>
            <a:ext cx="530244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194" strike="noStrike">
                <a:solidFill>
                  <a:srgbClr val="f4a259"/>
                </a:solidFill>
                <a:latin typeface="Calibri"/>
                <a:ea typeface="Calibri"/>
              </a:rPr>
              <a:t>PH.D. RESEARCH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960120" y="2724840"/>
            <a:ext cx="5302440" cy="65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00"/>
              </a:lnSpc>
              <a:buNone/>
              <a:tabLst>
                <a:tab algn="l" pos="0"/>
              </a:tabLst>
            </a:pP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Terrain-Adaptive Multi-Objective Coverage Path Planning for Mobile Robots Using an Improved NSGA-II Algorithm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49" name="Shape 5"/>
          <p:cNvSpPr/>
          <p:nvPr/>
        </p:nvSpPr>
        <p:spPr>
          <a:xfrm>
            <a:off x="685800" y="3823920"/>
            <a:ext cx="401400" cy="40140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50" name="Image 0" descr="preencoded.png"/>
          <p:cNvPicPr/>
          <p:nvPr/>
        </p:nvPicPr>
        <p:blipFill>
          <a:blip r:embed="rId1"/>
          <a:stretch/>
        </p:blipFill>
        <p:spPr>
          <a:xfrm>
            <a:off x="794520" y="3932640"/>
            <a:ext cx="183960" cy="183960"/>
          </a:xfrm>
          <a:prstGeom prst="rect">
            <a:avLst/>
          </a:prstGeom>
          <a:ln w="0">
            <a:noFill/>
          </a:ln>
        </p:spPr>
      </p:pic>
      <p:sp>
        <p:nvSpPr>
          <p:cNvPr id="51" name="Text 6"/>
          <p:cNvSpPr/>
          <p:nvPr/>
        </p:nvSpPr>
        <p:spPr>
          <a:xfrm>
            <a:off x="1261800" y="3806280"/>
            <a:ext cx="5393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e8f1f3"/>
                </a:solidFill>
                <a:latin typeface="Calibri"/>
                <a:ea typeface="Calibri"/>
              </a:rPr>
              <a:t>Ph. D. in Robotics and Optimization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52" name="Shape 7"/>
          <p:cNvSpPr/>
          <p:nvPr/>
        </p:nvSpPr>
        <p:spPr>
          <a:xfrm>
            <a:off x="685800" y="4537800"/>
            <a:ext cx="401400" cy="40140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53" name="Image 1" descr="preencoded.png"/>
          <p:cNvPicPr/>
          <p:nvPr/>
        </p:nvPicPr>
        <p:blipFill>
          <a:blip r:embed="rId2"/>
          <a:stretch/>
        </p:blipFill>
        <p:spPr>
          <a:xfrm>
            <a:off x="794520" y="4610520"/>
            <a:ext cx="183960" cy="183960"/>
          </a:xfrm>
          <a:prstGeom prst="rect">
            <a:avLst/>
          </a:prstGeom>
          <a:ln w="0">
            <a:noFill/>
          </a:ln>
        </p:spPr>
      </p:pic>
      <p:sp>
        <p:nvSpPr>
          <p:cNvPr id="54" name="Text 8"/>
          <p:cNvSpPr/>
          <p:nvPr/>
        </p:nvSpPr>
        <p:spPr>
          <a:xfrm>
            <a:off x="1261800" y="4556160"/>
            <a:ext cx="5393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e8f1f3"/>
                </a:solidFill>
                <a:latin typeface="Calibri"/>
                <a:ea typeface="Calibri"/>
              </a:rPr>
              <a:t>Faculty and Research in VFSTR, Vignan University</a:t>
            </a:r>
            <a:endParaRPr b="0" lang="en-US" sz="145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e8f1f3"/>
                </a:solidFill>
                <a:latin typeface="Calibri"/>
                <a:ea typeface="Calibri"/>
              </a:rPr>
              <a:t>B. Tech in Robotics and Automation course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55" name="Shape 9"/>
          <p:cNvSpPr/>
          <p:nvPr/>
        </p:nvSpPr>
        <p:spPr>
          <a:xfrm>
            <a:off x="685800" y="5863680"/>
            <a:ext cx="401400" cy="40140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56" name="Image 2" descr="preencoded.png"/>
          <p:cNvPicPr/>
          <p:nvPr/>
        </p:nvPicPr>
        <p:blipFill>
          <a:blip r:embed="rId3"/>
          <a:stretch/>
        </p:blipFill>
        <p:spPr>
          <a:xfrm>
            <a:off x="794520" y="5972040"/>
            <a:ext cx="183960" cy="183960"/>
          </a:xfrm>
          <a:prstGeom prst="rect">
            <a:avLst/>
          </a:prstGeom>
          <a:ln w="0">
            <a:noFill/>
          </a:ln>
        </p:spPr>
      </p:pic>
      <p:sp>
        <p:nvSpPr>
          <p:cNvPr id="57" name="Text 10"/>
          <p:cNvSpPr/>
          <p:nvPr/>
        </p:nvSpPr>
        <p:spPr>
          <a:xfrm>
            <a:off x="1261800" y="5845680"/>
            <a:ext cx="5393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e8f1f3"/>
                </a:solidFill>
                <a:latin typeface="Calibri"/>
                <a:ea typeface="Calibri"/>
              </a:rPr>
              <a:t>C++  ·  Python  ·  ROS 2  ·  MATLAB  ·  Gazebo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58" name="Text 40"/>
          <p:cNvSpPr/>
          <p:nvPr/>
        </p:nvSpPr>
        <p:spPr>
          <a:xfrm>
            <a:off x="7471800" y="5176800"/>
            <a:ext cx="4114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50000"/>
              </a:lnSpc>
              <a:spcBef>
                <a:spcPts val="431"/>
              </a:spcBef>
              <a:spcAft>
                <a:spcPts val="431"/>
              </a:spcAft>
              <a:buNone/>
              <a:tabLst>
                <a:tab algn="l" pos="0"/>
              </a:tabLst>
            </a:pPr>
            <a:r>
              <a:rPr b="1" i="1" lang="en-US" sz="1200" spc="-1" strike="noStrike">
                <a:solidFill>
                  <a:srgbClr val="ffff38"/>
                </a:solidFill>
                <a:latin typeface="Calibri"/>
                <a:ea typeface="Calibri"/>
              </a:rPr>
              <a:t>Proposed NSGA-II method over (a) flat terrain  (b) uneven terrain.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59" name="" descr=""/>
          <p:cNvPicPr/>
          <p:nvPr/>
        </p:nvPicPr>
        <p:blipFill>
          <a:blip r:embed="rId4"/>
          <a:srcRect l="0" t="0" r="49562" b="49105"/>
          <a:stretch/>
        </p:blipFill>
        <p:spPr>
          <a:xfrm>
            <a:off x="7014600" y="2718000"/>
            <a:ext cx="2190240" cy="2190240"/>
          </a:xfrm>
          <a:prstGeom prst="rect">
            <a:avLst/>
          </a:prstGeom>
          <a:ln w="0">
            <a:noFill/>
          </a:ln>
        </p:spPr>
      </p:pic>
      <p:pic>
        <p:nvPicPr>
          <p:cNvPr id="60" name="" descr=""/>
          <p:cNvPicPr/>
          <p:nvPr/>
        </p:nvPicPr>
        <p:blipFill>
          <a:blip r:embed="rId5"/>
          <a:srcRect l="33519" t="4283" r="31428" b="48762"/>
          <a:stretch/>
        </p:blipFill>
        <p:spPr>
          <a:xfrm>
            <a:off x="9372960" y="2790000"/>
            <a:ext cx="2513880" cy="2101680"/>
          </a:xfrm>
          <a:prstGeom prst="rect">
            <a:avLst/>
          </a:prstGeom>
          <a:ln w="0">
            <a:noFill/>
          </a:ln>
        </p:spPr>
      </p:pic>
      <p:sp>
        <p:nvSpPr>
          <p:cNvPr id="61" name=""/>
          <p:cNvSpPr/>
          <p:nvPr/>
        </p:nvSpPr>
        <p:spPr>
          <a:xfrm>
            <a:off x="1189800" y="5182560"/>
            <a:ext cx="4800240" cy="73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buNone/>
            </a:pPr>
            <a:r>
              <a:rPr b="0" lang="en-US" sz="1450" spc="-1" strike="noStrike">
                <a:solidFill>
                  <a:srgbClr val="e8f1f3"/>
                </a:solidFill>
                <a:latin typeface="Calibri"/>
                <a:ea typeface="Calibri"/>
              </a:rPr>
              <a:t>Industrial R&amp;D in façade-climbing robotics at WCB Robotics India Pvt Ltd (Start up firm).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62" name="Shape 3"/>
          <p:cNvSpPr/>
          <p:nvPr/>
        </p:nvSpPr>
        <p:spPr>
          <a:xfrm>
            <a:off x="685800" y="5221800"/>
            <a:ext cx="456840" cy="45684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63" name="" descr=""/>
          <p:cNvPicPr/>
          <p:nvPr/>
        </p:nvPicPr>
        <p:blipFill>
          <a:blip r:embed="rId6"/>
          <a:srcRect l="12300" t="10970" r="14047" b="11045"/>
          <a:stretch/>
        </p:blipFill>
        <p:spPr>
          <a:xfrm>
            <a:off x="793800" y="5309640"/>
            <a:ext cx="228240" cy="241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 0"/>
          <p:cNvSpPr/>
          <p:nvPr/>
        </p:nvSpPr>
        <p:spPr>
          <a:xfrm>
            <a:off x="685800" y="548640"/>
            <a:ext cx="73141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rgbClr val="0e2a33"/>
                </a:solidFill>
                <a:latin typeface="Cambria"/>
                <a:ea typeface="Cambria"/>
              </a:rPr>
              <a:t>Research Credentials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65" name="Text 1"/>
          <p:cNvSpPr/>
          <p:nvPr/>
        </p:nvSpPr>
        <p:spPr>
          <a:xfrm>
            <a:off x="685800" y="1417320"/>
            <a:ext cx="51195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194" strike="noStrike">
                <a:solidFill>
                  <a:srgbClr val="1b9aaa"/>
                </a:solidFill>
                <a:latin typeface="Calibri"/>
                <a:ea typeface="Calibri"/>
              </a:rPr>
              <a:t>RESEARCH AREAS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Shape 2"/>
          <p:cNvSpPr/>
          <p:nvPr/>
        </p:nvSpPr>
        <p:spPr>
          <a:xfrm>
            <a:off x="685800" y="1847160"/>
            <a:ext cx="5028120" cy="639000"/>
          </a:xfrm>
          <a:prstGeom prst="roundRect">
            <a:avLst>
              <a:gd name="adj" fmla="val 8571"/>
            </a:avLst>
          </a:prstGeom>
          <a:solidFill>
            <a:srgbClr val="f1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67" name="Image 0" descr="preencoded.png"/>
          <p:cNvPicPr/>
          <p:nvPr/>
        </p:nvPicPr>
        <p:blipFill>
          <a:blip r:embed="rId1"/>
          <a:stretch/>
        </p:blipFill>
        <p:spPr>
          <a:xfrm>
            <a:off x="914400" y="2002680"/>
            <a:ext cx="327960" cy="327960"/>
          </a:xfrm>
          <a:prstGeom prst="rect">
            <a:avLst/>
          </a:prstGeom>
          <a:ln w="0">
            <a:noFill/>
          </a:ln>
        </p:spPr>
      </p:pic>
      <p:sp>
        <p:nvSpPr>
          <p:cNvPr id="68" name="Text 3"/>
          <p:cNvSpPr/>
          <p:nvPr/>
        </p:nvSpPr>
        <p:spPr>
          <a:xfrm>
            <a:off x="1371600" y="1847160"/>
            <a:ext cx="42051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1f2d33"/>
                </a:solidFill>
                <a:latin typeface="Calibri"/>
                <a:ea typeface="Calibri"/>
              </a:rPr>
              <a:t>Mobile Robot Navigation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69" name="Shape 4"/>
          <p:cNvSpPr/>
          <p:nvPr/>
        </p:nvSpPr>
        <p:spPr>
          <a:xfrm>
            <a:off x="685800" y="2651760"/>
            <a:ext cx="5028120" cy="639000"/>
          </a:xfrm>
          <a:prstGeom prst="roundRect">
            <a:avLst>
              <a:gd name="adj" fmla="val 8571"/>
            </a:avLst>
          </a:prstGeom>
          <a:solidFill>
            <a:srgbClr val="f1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70" name="Image 1" descr="preencoded.png"/>
          <p:cNvPicPr/>
          <p:nvPr/>
        </p:nvPicPr>
        <p:blipFill>
          <a:blip r:embed="rId2"/>
          <a:stretch/>
        </p:blipFill>
        <p:spPr>
          <a:xfrm>
            <a:off x="914400" y="2807280"/>
            <a:ext cx="327960" cy="327960"/>
          </a:xfrm>
          <a:prstGeom prst="rect">
            <a:avLst/>
          </a:prstGeom>
          <a:ln w="0">
            <a:noFill/>
          </a:ln>
        </p:spPr>
      </p:pic>
      <p:sp>
        <p:nvSpPr>
          <p:cNvPr id="71" name="Text 5"/>
          <p:cNvSpPr/>
          <p:nvPr/>
        </p:nvSpPr>
        <p:spPr>
          <a:xfrm>
            <a:off x="1371600" y="2651760"/>
            <a:ext cx="42051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1f2d33"/>
                </a:solidFill>
                <a:latin typeface="Calibri"/>
                <a:ea typeface="Calibri"/>
              </a:rPr>
              <a:t>Coverage Path Planning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72" name="Shape 6"/>
          <p:cNvSpPr/>
          <p:nvPr/>
        </p:nvSpPr>
        <p:spPr>
          <a:xfrm>
            <a:off x="685800" y="3456360"/>
            <a:ext cx="5028120" cy="639000"/>
          </a:xfrm>
          <a:prstGeom prst="roundRect">
            <a:avLst>
              <a:gd name="adj" fmla="val 8571"/>
            </a:avLst>
          </a:prstGeom>
          <a:solidFill>
            <a:srgbClr val="f1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73" name="Image 2" descr="preencoded.png"/>
          <p:cNvPicPr/>
          <p:nvPr/>
        </p:nvPicPr>
        <p:blipFill>
          <a:blip r:embed="rId3"/>
          <a:stretch/>
        </p:blipFill>
        <p:spPr>
          <a:xfrm>
            <a:off x="914400" y="3611880"/>
            <a:ext cx="327960" cy="327960"/>
          </a:xfrm>
          <a:prstGeom prst="rect">
            <a:avLst/>
          </a:prstGeom>
          <a:ln w="0">
            <a:noFill/>
          </a:ln>
        </p:spPr>
      </p:pic>
      <p:sp>
        <p:nvSpPr>
          <p:cNvPr id="74" name="Text 7"/>
          <p:cNvSpPr/>
          <p:nvPr/>
        </p:nvSpPr>
        <p:spPr>
          <a:xfrm>
            <a:off x="1371600" y="3456360"/>
            <a:ext cx="42051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1f2d33"/>
                </a:solidFill>
                <a:latin typeface="Calibri"/>
                <a:ea typeface="Calibri"/>
              </a:rPr>
              <a:t>Multi-Objective Optimization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75" name="Shape 8"/>
          <p:cNvSpPr/>
          <p:nvPr/>
        </p:nvSpPr>
        <p:spPr>
          <a:xfrm>
            <a:off x="685800" y="4260960"/>
            <a:ext cx="5028120" cy="639000"/>
          </a:xfrm>
          <a:prstGeom prst="roundRect">
            <a:avLst>
              <a:gd name="adj" fmla="val 8571"/>
            </a:avLst>
          </a:prstGeom>
          <a:solidFill>
            <a:srgbClr val="f1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76" name="Image 3" descr="preencoded.png"/>
          <p:cNvPicPr/>
          <p:nvPr/>
        </p:nvPicPr>
        <p:blipFill>
          <a:blip r:embed="rId4"/>
          <a:stretch/>
        </p:blipFill>
        <p:spPr>
          <a:xfrm>
            <a:off x="914400" y="4416480"/>
            <a:ext cx="327960" cy="327960"/>
          </a:xfrm>
          <a:prstGeom prst="rect">
            <a:avLst/>
          </a:prstGeom>
          <a:ln w="0">
            <a:noFill/>
          </a:ln>
        </p:spPr>
      </p:pic>
      <p:sp>
        <p:nvSpPr>
          <p:cNvPr id="77" name="Text 9"/>
          <p:cNvSpPr/>
          <p:nvPr/>
        </p:nvSpPr>
        <p:spPr>
          <a:xfrm>
            <a:off x="1371600" y="4260960"/>
            <a:ext cx="42051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1f2d33"/>
                </a:solidFill>
                <a:latin typeface="Calibri"/>
                <a:ea typeface="Calibri"/>
              </a:rPr>
              <a:t>Localization and Sensor Fusion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78" name="Shape 10"/>
          <p:cNvSpPr/>
          <p:nvPr/>
        </p:nvSpPr>
        <p:spPr>
          <a:xfrm>
            <a:off x="685800" y="5065920"/>
            <a:ext cx="5028120" cy="639000"/>
          </a:xfrm>
          <a:prstGeom prst="roundRect">
            <a:avLst>
              <a:gd name="adj" fmla="val 8571"/>
            </a:avLst>
          </a:prstGeom>
          <a:solidFill>
            <a:srgbClr val="f1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79" name="Image 4" descr="preencoded.png"/>
          <p:cNvPicPr/>
          <p:nvPr/>
        </p:nvPicPr>
        <p:blipFill>
          <a:blip r:embed="rId5"/>
          <a:stretch/>
        </p:blipFill>
        <p:spPr>
          <a:xfrm>
            <a:off x="914400" y="5221080"/>
            <a:ext cx="327960" cy="327960"/>
          </a:xfrm>
          <a:prstGeom prst="rect">
            <a:avLst/>
          </a:prstGeom>
          <a:ln w="0">
            <a:noFill/>
          </a:ln>
        </p:spPr>
      </p:pic>
      <p:sp>
        <p:nvSpPr>
          <p:cNvPr id="80" name="Text 11"/>
          <p:cNvSpPr/>
          <p:nvPr/>
        </p:nvSpPr>
        <p:spPr>
          <a:xfrm>
            <a:off x="1371600" y="5065920"/>
            <a:ext cx="42051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1f2d33"/>
                </a:solidFill>
                <a:latin typeface="Calibri"/>
                <a:ea typeface="Calibri"/>
              </a:rPr>
              <a:t>Autonomous Mobile Robots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81" name="Text 12"/>
          <p:cNvSpPr/>
          <p:nvPr/>
        </p:nvSpPr>
        <p:spPr>
          <a:xfrm>
            <a:off x="6400800" y="1417320"/>
            <a:ext cx="5028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194" strike="noStrike">
                <a:solidFill>
                  <a:srgbClr val="1b9aaa"/>
                </a:solidFill>
                <a:latin typeface="Calibri"/>
                <a:ea typeface="Calibri"/>
              </a:rPr>
              <a:t>RESEARCH EXPERIENCE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2" name="Shape 13"/>
          <p:cNvSpPr/>
          <p:nvPr/>
        </p:nvSpPr>
        <p:spPr>
          <a:xfrm>
            <a:off x="6400800" y="1883520"/>
            <a:ext cx="327960" cy="327960"/>
          </a:xfrm>
          <a:prstGeom prst="ellipse">
            <a:avLst/>
          </a:prstGeom>
          <a:solidFill>
            <a:srgbClr val="0e2a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" name="Text 14"/>
          <p:cNvSpPr/>
          <p:nvPr/>
        </p:nvSpPr>
        <p:spPr>
          <a:xfrm>
            <a:off x="6400800" y="1883520"/>
            <a:ext cx="32796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01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4" name="Text 15"/>
          <p:cNvSpPr/>
          <p:nvPr/>
        </p:nvSpPr>
        <p:spPr>
          <a:xfrm>
            <a:off x="6858000" y="1828800"/>
            <a:ext cx="45709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99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1f2d33"/>
                </a:solidFill>
                <a:latin typeface="Calibri"/>
                <a:ea typeface="Calibri"/>
              </a:rPr>
              <a:t>Developed multi-objective optimization-based path planning methods for mobile robots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85" name="Shape 16"/>
          <p:cNvSpPr/>
          <p:nvPr/>
        </p:nvSpPr>
        <p:spPr>
          <a:xfrm>
            <a:off x="6400800" y="2871360"/>
            <a:ext cx="327960" cy="327960"/>
          </a:xfrm>
          <a:prstGeom prst="ellipse">
            <a:avLst/>
          </a:prstGeom>
          <a:solidFill>
            <a:srgbClr val="0e2a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Text 17"/>
          <p:cNvSpPr/>
          <p:nvPr/>
        </p:nvSpPr>
        <p:spPr>
          <a:xfrm>
            <a:off x="6400800" y="2871360"/>
            <a:ext cx="32796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02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7" name="Text 18"/>
          <p:cNvSpPr/>
          <p:nvPr/>
        </p:nvSpPr>
        <p:spPr>
          <a:xfrm>
            <a:off x="6858000" y="2816280"/>
            <a:ext cx="45709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99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1f2d33"/>
                </a:solidFill>
                <a:latin typeface="Calibri"/>
                <a:ea typeface="Calibri"/>
              </a:rPr>
              <a:t>Validated work in simulation and on real mobile robot platforms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88" name="Shape 19"/>
          <p:cNvSpPr/>
          <p:nvPr/>
        </p:nvSpPr>
        <p:spPr>
          <a:xfrm>
            <a:off x="6400800" y="3858840"/>
            <a:ext cx="327960" cy="327960"/>
          </a:xfrm>
          <a:prstGeom prst="ellipse">
            <a:avLst/>
          </a:prstGeom>
          <a:solidFill>
            <a:srgbClr val="0e2a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Text 20"/>
          <p:cNvSpPr/>
          <p:nvPr/>
        </p:nvSpPr>
        <p:spPr>
          <a:xfrm>
            <a:off x="6400800" y="3858840"/>
            <a:ext cx="32796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03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0" name="Text 21"/>
          <p:cNvSpPr/>
          <p:nvPr/>
        </p:nvSpPr>
        <p:spPr>
          <a:xfrm>
            <a:off x="6858000" y="3803760"/>
            <a:ext cx="45709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99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1f2d33"/>
                </a:solidFill>
                <a:latin typeface="Calibri"/>
                <a:ea typeface="Calibri"/>
              </a:rPr>
              <a:t>Industrial experience in SLAM, localization, sensor fusion and motion planning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91" name="Shape 22"/>
          <p:cNvSpPr/>
          <p:nvPr/>
        </p:nvSpPr>
        <p:spPr>
          <a:xfrm>
            <a:off x="6400800" y="4846320"/>
            <a:ext cx="327960" cy="327960"/>
          </a:xfrm>
          <a:prstGeom prst="ellipse">
            <a:avLst/>
          </a:prstGeom>
          <a:solidFill>
            <a:srgbClr val="0e2a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23"/>
          <p:cNvSpPr/>
          <p:nvPr/>
        </p:nvSpPr>
        <p:spPr>
          <a:xfrm>
            <a:off x="6400800" y="4846320"/>
            <a:ext cx="32796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04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3" name="Text 24"/>
          <p:cNvSpPr/>
          <p:nvPr/>
        </p:nvSpPr>
        <p:spPr>
          <a:xfrm>
            <a:off x="6858000" y="4791600"/>
            <a:ext cx="45709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99"/>
              </a:lnSpc>
              <a:buNone/>
              <a:tabLst>
                <a:tab algn="l" pos="0"/>
              </a:tabLst>
            </a:pPr>
            <a:r>
              <a:rPr b="0" lang="en-US" sz="1450" spc="-1" strike="noStrike">
                <a:solidFill>
                  <a:srgbClr val="1f2d33"/>
                </a:solidFill>
                <a:latin typeface="Calibri"/>
                <a:ea typeface="Calibri"/>
              </a:rPr>
              <a:t>Peer-reviewed publications in mobile robotics and path planning</a:t>
            </a:r>
            <a:endParaRPr b="0" lang="en-US" sz="14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0"/>
          <p:cNvSpPr/>
          <p:nvPr/>
        </p:nvSpPr>
        <p:spPr>
          <a:xfrm>
            <a:off x="685800" y="548640"/>
            <a:ext cx="73141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rgbClr val="0e2a33"/>
                </a:solidFill>
                <a:latin typeface="Cambria"/>
                <a:ea typeface="Cambria"/>
              </a:rPr>
              <a:t>Ongoing Research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95" name="Text 1"/>
          <p:cNvSpPr/>
          <p:nvPr/>
        </p:nvSpPr>
        <p:spPr>
          <a:xfrm>
            <a:off x="685800" y="1417320"/>
            <a:ext cx="48452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194" strike="noStrike">
                <a:solidFill>
                  <a:srgbClr val="1b9aaa"/>
                </a:solidFill>
                <a:latin typeface="Calibri"/>
                <a:ea typeface="Calibri"/>
              </a:rPr>
              <a:t>CURRENT RESEARCH FOCUS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6" name="Shape 2"/>
          <p:cNvSpPr/>
          <p:nvPr/>
        </p:nvSpPr>
        <p:spPr>
          <a:xfrm>
            <a:off x="713160" y="1974960"/>
            <a:ext cx="154440" cy="154440"/>
          </a:xfrm>
          <a:prstGeom prst="diamond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Text 3"/>
          <p:cNvSpPr/>
          <p:nvPr/>
        </p:nvSpPr>
        <p:spPr>
          <a:xfrm>
            <a:off x="1097280" y="1874520"/>
            <a:ext cx="447948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1f2d33"/>
                </a:solidFill>
                <a:latin typeface="Calibri"/>
                <a:ea typeface="Calibri"/>
              </a:rPr>
              <a:t>Uncertainty-aware mobile robot navigation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98" name="Shape 4"/>
          <p:cNvSpPr/>
          <p:nvPr/>
        </p:nvSpPr>
        <p:spPr>
          <a:xfrm>
            <a:off x="713160" y="2752200"/>
            <a:ext cx="154440" cy="154440"/>
          </a:xfrm>
          <a:prstGeom prst="diamond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Text 5"/>
          <p:cNvSpPr/>
          <p:nvPr/>
        </p:nvSpPr>
        <p:spPr>
          <a:xfrm>
            <a:off x="1097280" y="2651760"/>
            <a:ext cx="447948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1f2d33"/>
                </a:solidFill>
                <a:latin typeface="Calibri"/>
                <a:ea typeface="Calibri"/>
              </a:rPr>
              <a:t>Localization and sensor fusion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0" name="Shape 6"/>
          <p:cNvSpPr/>
          <p:nvPr/>
        </p:nvSpPr>
        <p:spPr>
          <a:xfrm>
            <a:off x="713160" y="3529440"/>
            <a:ext cx="154440" cy="154440"/>
          </a:xfrm>
          <a:prstGeom prst="diamond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Text 7"/>
          <p:cNvSpPr/>
          <p:nvPr/>
        </p:nvSpPr>
        <p:spPr>
          <a:xfrm>
            <a:off x="1097280" y="3429000"/>
            <a:ext cx="447948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1f2d33"/>
                </a:solidFill>
                <a:latin typeface="Calibri"/>
                <a:ea typeface="Calibri"/>
              </a:rPr>
              <a:t>Navigation in unknown environments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2" name="Shape 8"/>
          <p:cNvSpPr/>
          <p:nvPr/>
        </p:nvSpPr>
        <p:spPr>
          <a:xfrm>
            <a:off x="713160" y="4306680"/>
            <a:ext cx="154440" cy="154440"/>
          </a:xfrm>
          <a:prstGeom prst="diamond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Text 9"/>
          <p:cNvSpPr/>
          <p:nvPr/>
        </p:nvSpPr>
        <p:spPr>
          <a:xfrm>
            <a:off x="1097280" y="4206240"/>
            <a:ext cx="447948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1f2d33"/>
                </a:solidFill>
                <a:latin typeface="Calibri"/>
                <a:ea typeface="Calibri"/>
              </a:rPr>
              <a:t>Dynamic obstacle avoidance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4" name="Text 11"/>
          <p:cNvSpPr/>
          <p:nvPr/>
        </p:nvSpPr>
        <p:spPr>
          <a:xfrm>
            <a:off x="1097280" y="4983480"/>
            <a:ext cx="447948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1f2d33"/>
                </a:solidFill>
                <a:latin typeface="Calibri"/>
                <a:ea typeface="Calibri"/>
              </a:rPr>
              <a:t>Autonomous exploration and mapping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5" name="Shape 12"/>
          <p:cNvSpPr/>
          <p:nvPr/>
        </p:nvSpPr>
        <p:spPr>
          <a:xfrm>
            <a:off x="6217920" y="1371600"/>
            <a:ext cx="5256720" cy="4159440"/>
          </a:xfrm>
          <a:prstGeom prst="roundRect">
            <a:avLst>
              <a:gd name="adj" fmla="val 1099"/>
            </a:avLst>
          </a:prstGeom>
          <a:solidFill>
            <a:srgbClr val="0e2a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Text 13"/>
          <p:cNvSpPr/>
          <p:nvPr/>
        </p:nvSpPr>
        <p:spPr>
          <a:xfrm>
            <a:off x="6537960" y="1691640"/>
            <a:ext cx="4662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194" strike="noStrike">
                <a:solidFill>
                  <a:srgbClr val="f4a259"/>
                </a:solidFill>
                <a:latin typeface="Calibri"/>
                <a:ea typeface="Calibri"/>
              </a:rPr>
              <a:t>CURRENT STUDENT PROJECT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07" name="Text 14"/>
          <p:cNvSpPr/>
          <p:nvPr/>
        </p:nvSpPr>
        <p:spPr>
          <a:xfrm>
            <a:off x="6537960" y="2030040"/>
            <a:ext cx="46166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2999"/>
              </a:lnSpc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rgbClr val="ffffff"/>
                </a:solidFill>
                <a:latin typeface="Cambria"/>
                <a:ea typeface="Cambria"/>
              </a:rPr>
              <a:t>Autonomous Search and Rescue Mobile Robot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08" name="Text 15"/>
          <p:cNvSpPr/>
          <p:nvPr/>
        </p:nvSpPr>
        <p:spPr>
          <a:xfrm>
            <a:off x="6537960" y="2971800"/>
            <a:ext cx="4616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701"/>
              </a:lnSpc>
              <a:buNone/>
              <a:tabLst>
                <a:tab algn="l" pos="0"/>
              </a:tabLst>
            </a:pPr>
            <a:r>
              <a:rPr b="0" lang="en-US" sz="1250" spc="-1" strike="noStrike">
                <a:solidFill>
                  <a:srgbClr val="8fd3df"/>
                </a:solidFill>
                <a:latin typeface="Calibri"/>
                <a:ea typeface="Calibri"/>
              </a:rPr>
              <a:t>Guiding 4 UG students team building a full autonomy stack on a physical platform.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109" name="Shape 16"/>
          <p:cNvSpPr/>
          <p:nvPr/>
        </p:nvSpPr>
        <p:spPr>
          <a:xfrm>
            <a:off x="6537960" y="3639240"/>
            <a:ext cx="1050480" cy="410400"/>
          </a:xfrm>
          <a:prstGeom prst="roundRect">
            <a:avLst>
              <a:gd name="adj" fmla="val 44444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0" name="Text 17"/>
          <p:cNvSpPr/>
          <p:nvPr/>
        </p:nvSpPr>
        <p:spPr>
          <a:xfrm>
            <a:off x="6537960" y="3639240"/>
            <a:ext cx="10504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ROS 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1" name="Shape 18"/>
          <p:cNvSpPr/>
          <p:nvPr/>
        </p:nvSpPr>
        <p:spPr>
          <a:xfrm>
            <a:off x="7754040" y="3639240"/>
            <a:ext cx="1233360" cy="410400"/>
          </a:xfrm>
          <a:prstGeom prst="roundRect">
            <a:avLst>
              <a:gd name="adj" fmla="val 44444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Text 19"/>
          <p:cNvSpPr/>
          <p:nvPr/>
        </p:nvSpPr>
        <p:spPr>
          <a:xfrm>
            <a:off x="7754040" y="3639240"/>
            <a:ext cx="12333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Sensors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3" name="Shape 20"/>
          <p:cNvSpPr/>
          <p:nvPr/>
        </p:nvSpPr>
        <p:spPr>
          <a:xfrm>
            <a:off x="9153000" y="3639240"/>
            <a:ext cx="1644840" cy="410400"/>
          </a:xfrm>
          <a:prstGeom prst="roundRect">
            <a:avLst>
              <a:gd name="adj" fmla="val 44444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4" name="Text 21"/>
          <p:cNvSpPr/>
          <p:nvPr/>
        </p:nvSpPr>
        <p:spPr>
          <a:xfrm>
            <a:off x="9153000" y="3639240"/>
            <a:ext cx="16448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Localization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5" name="Shape 22"/>
          <p:cNvSpPr/>
          <p:nvPr/>
        </p:nvSpPr>
        <p:spPr>
          <a:xfrm>
            <a:off x="6537960" y="4206240"/>
            <a:ext cx="1599120" cy="410400"/>
          </a:xfrm>
          <a:prstGeom prst="roundRect">
            <a:avLst>
              <a:gd name="adj" fmla="val 44444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Text 23"/>
          <p:cNvSpPr/>
          <p:nvPr/>
        </p:nvSpPr>
        <p:spPr>
          <a:xfrm>
            <a:off x="6537960" y="4206240"/>
            <a:ext cx="15991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Navigation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7" name="Shape 24"/>
          <p:cNvSpPr/>
          <p:nvPr/>
        </p:nvSpPr>
        <p:spPr>
          <a:xfrm>
            <a:off x="8302680" y="4206240"/>
            <a:ext cx="2147760" cy="410400"/>
          </a:xfrm>
          <a:prstGeom prst="roundRect">
            <a:avLst>
              <a:gd name="adj" fmla="val 44444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8" name="Text 25"/>
          <p:cNvSpPr/>
          <p:nvPr/>
        </p:nvSpPr>
        <p:spPr>
          <a:xfrm>
            <a:off x="8302680" y="4206240"/>
            <a:ext cx="21477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Obstacle Avoidance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9" name="Shape 26"/>
          <p:cNvSpPr/>
          <p:nvPr/>
        </p:nvSpPr>
        <p:spPr>
          <a:xfrm>
            <a:off x="10607040" y="4800600"/>
            <a:ext cx="547560" cy="547560"/>
          </a:xfrm>
          <a:prstGeom prst="ellipse">
            <a:avLst/>
          </a:prstGeom>
          <a:solidFill>
            <a:srgbClr val="123b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20" name="Image 0" descr="preencoded.png"/>
          <p:cNvPicPr/>
          <p:nvPr/>
        </p:nvPicPr>
        <p:blipFill>
          <a:blip r:embed="rId1"/>
          <a:stretch/>
        </p:blipFill>
        <p:spPr>
          <a:xfrm>
            <a:off x="10755000" y="4948560"/>
            <a:ext cx="251280" cy="251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0"/>
          <p:cNvSpPr/>
          <p:nvPr/>
        </p:nvSpPr>
        <p:spPr>
          <a:xfrm>
            <a:off x="685800" y="457200"/>
            <a:ext cx="73141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rgbClr val="0e2a33"/>
                </a:solidFill>
                <a:latin typeface="Cambria"/>
                <a:ea typeface="Cambria"/>
              </a:rPr>
              <a:t>Future Research Plan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122" name="Shape 1"/>
          <p:cNvSpPr/>
          <p:nvPr/>
        </p:nvSpPr>
        <p:spPr>
          <a:xfrm>
            <a:off x="685800" y="1234440"/>
            <a:ext cx="5119560" cy="3427920"/>
          </a:xfrm>
          <a:prstGeom prst="roundRect">
            <a:avLst>
              <a:gd name="adj" fmla="val 1333"/>
            </a:avLst>
          </a:prstGeom>
          <a:solidFill>
            <a:srgbClr val="f1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3" name="Shape 2"/>
          <p:cNvSpPr/>
          <p:nvPr/>
        </p:nvSpPr>
        <p:spPr>
          <a:xfrm>
            <a:off x="1005840" y="1536120"/>
            <a:ext cx="419400" cy="419400"/>
          </a:xfrm>
          <a:prstGeom prst="ellipse">
            <a:avLst/>
          </a:prstGeom>
          <a:solidFill>
            <a:srgbClr val="1b9aa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24" name="Image 0" descr="preencoded.png"/>
          <p:cNvPicPr/>
          <p:nvPr/>
        </p:nvPicPr>
        <p:blipFill>
          <a:blip r:embed="rId1"/>
          <a:stretch/>
        </p:blipFill>
        <p:spPr>
          <a:xfrm>
            <a:off x="1119240" y="1649880"/>
            <a:ext cx="192240" cy="192240"/>
          </a:xfrm>
          <a:prstGeom prst="rect">
            <a:avLst/>
          </a:prstGeom>
          <a:ln w="0">
            <a:noFill/>
          </a:ln>
        </p:spPr>
      </p:pic>
      <p:sp>
        <p:nvSpPr>
          <p:cNvPr id="125" name="Text 3"/>
          <p:cNvSpPr/>
          <p:nvPr/>
        </p:nvSpPr>
        <p:spPr>
          <a:xfrm>
            <a:off x="1554480" y="1536120"/>
            <a:ext cx="393084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0e2a33"/>
                </a:solidFill>
                <a:latin typeface="Cambria"/>
                <a:ea typeface="Cambria"/>
              </a:rPr>
              <a:t>Short-Term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126" name="Shape 4"/>
          <p:cNvSpPr/>
          <p:nvPr/>
        </p:nvSpPr>
        <p:spPr>
          <a:xfrm>
            <a:off x="1069920" y="2354760"/>
            <a:ext cx="99360" cy="99360"/>
          </a:xfrm>
          <a:prstGeom prst="ellipse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Text 5"/>
          <p:cNvSpPr/>
          <p:nvPr/>
        </p:nvSpPr>
        <p:spPr>
          <a:xfrm>
            <a:off x="1344240" y="2212920"/>
            <a:ext cx="411372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1f2d33"/>
                </a:solidFill>
                <a:latin typeface="Calibri"/>
                <a:ea typeface="Calibri"/>
              </a:rPr>
              <a:t>Robust localization and navigation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8" name="Shape 6"/>
          <p:cNvSpPr/>
          <p:nvPr/>
        </p:nvSpPr>
        <p:spPr>
          <a:xfrm>
            <a:off x="1069920" y="2811960"/>
            <a:ext cx="99360" cy="99360"/>
          </a:xfrm>
          <a:prstGeom prst="ellipse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Text 7"/>
          <p:cNvSpPr/>
          <p:nvPr/>
        </p:nvSpPr>
        <p:spPr>
          <a:xfrm>
            <a:off x="1344240" y="2670120"/>
            <a:ext cx="411372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1f2d33"/>
                </a:solidFill>
                <a:latin typeface="Calibri"/>
                <a:ea typeface="Calibri"/>
              </a:rPr>
              <a:t>Unknown and dynamic environments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0" name="Shape 8"/>
          <p:cNvSpPr/>
          <p:nvPr/>
        </p:nvSpPr>
        <p:spPr>
          <a:xfrm>
            <a:off x="1069920" y="3269160"/>
            <a:ext cx="99360" cy="99360"/>
          </a:xfrm>
          <a:prstGeom prst="ellipse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1" name="Text 9"/>
          <p:cNvSpPr/>
          <p:nvPr/>
        </p:nvSpPr>
        <p:spPr>
          <a:xfrm>
            <a:off x="1344240" y="3127320"/>
            <a:ext cx="411372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1f2d33"/>
                </a:solidFill>
                <a:latin typeface="Calibri"/>
                <a:ea typeface="Calibri"/>
              </a:rPr>
              <a:t>Improved coverage path planning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2" name="Shape 10"/>
          <p:cNvSpPr/>
          <p:nvPr/>
        </p:nvSpPr>
        <p:spPr>
          <a:xfrm>
            <a:off x="6355080" y="1234440"/>
            <a:ext cx="5119560" cy="3427920"/>
          </a:xfrm>
          <a:prstGeom prst="roundRect">
            <a:avLst>
              <a:gd name="adj" fmla="val 1333"/>
            </a:avLst>
          </a:prstGeom>
          <a:solidFill>
            <a:srgbClr val="f1f5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Shape 11"/>
          <p:cNvSpPr/>
          <p:nvPr/>
        </p:nvSpPr>
        <p:spPr>
          <a:xfrm>
            <a:off x="6675120" y="1536120"/>
            <a:ext cx="419400" cy="419400"/>
          </a:xfrm>
          <a:prstGeom prst="ellipse">
            <a:avLst/>
          </a:prstGeom>
          <a:solidFill>
            <a:srgbClr val="1b9aa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34" name="Image 1" descr="preencoded.png"/>
          <p:cNvPicPr/>
          <p:nvPr/>
        </p:nvPicPr>
        <p:blipFill>
          <a:blip r:embed="rId2"/>
          <a:stretch/>
        </p:blipFill>
        <p:spPr>
          <a:xfrm>
            <a:off x="6788520" y="1649880"/>
            <a:ext cx="192240" cy="192240"/>
          </a:xfrm>
          <a:prstGeom prst="rect">
            <a:avLst/>
          </a:prstGeom>
          <a:ln w="0">
            <a:noFill/>
          </a:ln>
        </p:spPr>
      </p:pic>
      <p:sp>
        <p:nvSpPr>
          <p:cNvPr id="135" name="Text 12"/>
          <p:cNvSpPr/>
          <p:nvPr/>
        </p:nvSpPr>
        <p:spPr>
          <a:xfrm>
            <a:off x="7223760" y="1536120"/>
            <a:ext cx="393084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0e2a33"/>
                </a:solidFill>
                <a:latin typeface="Cambria"/>
                <a:ea typeface="Cambria"/>
              </a:rPr>
              <a:t>Long-Term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136" name="Shape 13"/>
          <p:cNvSpPr/>
          <p:nvPr/>
        </p:nvSpPr>
        <p:spPr>
          <a:xfrm>
            <a:off x="6739200" y="2354760"/>
            <a:ext cx="99360" cy="99360"/>
          </a:xfrm>
          <a:prstGeom prst="ellipse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Text 14"/>
          <p:cNvSpPr/>
          <p:nvPr/>
        </p:nvSpPr>
        <p:spPr>
          <a:xfrm>
            <a:off x="7013520" y="2212920"/>
            <a:ext cx="411372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1f2d33"/>
                </a:solidFill>
                <a:latin typeface="Calibri"/>
                <a:ea typeface="Calibri"/>
              </a:rPr>
              <a:t>AI-assisted autonomous navigation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8" name="Shape 15"/>
          <p:cNvSpPr/>
          <p:nvPr/>
        </p:nvSpPr>
        <p:spPr>
          <a:xfrm>
            <a:off x="6739200" y="2811960"/>
            <a:ext cx="99360" cy="99360"/>
          </a:xfrm>
          <a:prstGeom prst="ellipse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9" name="Text 16"/>
          <p:cNvSpPr/>
          <p:nvPr/>
        </p:nvSpPr>
        <p:spPr>
          <a:xfrm>
            <a:off x="7013520" y="2670120"/>
            <a:ext cx="411372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1f2d33"/>
                </a:solidFill>
                <a:latin typeface="Calibri"/>
                <a:ea typeface="Calibri"/>
              </a:rPr>
              <a:t>Multi-robot exploration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0" name="Shape 17"/>
          <p:cNvSpPr/>
          <p:nvPr/>
        </p:nvSpPr>
        <p:spPr>
          <a:xfrm>
            <a:off x="6739200" y="3269160"/>
            <a:ext cx="99360" cy="99360"/>
          </a:xfrm>
          <a:prstGeom prst="ellipse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Text 18"/>
          <p:cNvSpPr/>
          <p:nvPr/>
        </p:nvSpPr>
        <p:spPr>
          <a:xfrm>
            <a:off x="7013520" y="3127320"/>
            <a:ext cx="411372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1f2d33"/>
                </a:solidFill>
                <a:latin typeface="Calibri"/>
                <a:ea typeface="Calibri"/>
              </a:rPr>
              <a:t>Search and rescue robotics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2" name="Shape 19"/>
          <p:cNvSpPr/>
          <p:nvPr/>
        </p:nvSpPr>
        <p:spPr>
          <a:xfrm>
            <a:off x="6739200" y="3726360"/>
            <a:ext cx="99360" cy="99360"/>
          </a:xfrm>
          <a:prstGeom prst="ellipse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20"/>
          <p:cNvSpPr/>
          <p:nvPr/>
        </p:nvSpPr>
        <p:spPr>
          <a:xfrm>
            <a:off x="7013520" y="3584520"/>
            <a:ext cx="411372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1f2d33"/>
                </a:solidFill>
                <a:latin typeface="Calibri"/>
                <a:ea typeface="Calibri"/>
              </a:rPr>
              <a:t>Real-world experimental validation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4" name="Shape 21"/>
          <p:cNvSpPr/>
          <p:nvPr/>
        </p:nvSpPr>
        <p:spPr>
          <a:xfrm>
            <a:off x="6739200" y="4183560"/>
            <a:ext cx="99360" cy="99360"/>
          </a:xfrm>
          <a:prstGeom prst="ellipse">
            <a:avLst/>
          </a:prstGeom>
          <a:solidFill>
            <a:srgbClr val="f4a25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5" name="Text 22"/>
          <p:cNvSpPr/>
          <p:nvPr/>
        </p:nvSpPr>
        <p:spPr>
          <a:xfrm>
            <a:off x="7013520" y="4041720"/>
            <a:ext cx="411372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1f2d33"/>
                </a:solidFill>
                <a:latin typeface="Calibri"/>
                <a:ea typeface="Calibri"/>
              </a:rPr>
              <a:t>Industry and academic collaboration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46" name="Shape 23"/>
          <p:cNvSpPr/>
          <p:nvPr/>
        </p:nvSpPr>
        <p:spPr>
          <a:xfrm>
            <a:off x="685800" y="5029200"/>
            <a:ext cx="10788840" cy="1050480"/>
          </a:xfrm>
          <a:prstGeom prst="roundRect">
            <a:avLst>
              <a:gd name="adj" fmla="val 4348"/>
            </a:avLst>
          </a:prstGeom>
          <a:solidFill>
            <a:srgbClr val="0e2a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24"/>
          <p:cNvSpPr/>
          <p:nvPr/>
        </p:nvSpPr>
        <p:spPr>
          <a:xfrm>
            <a:off x="1051560" y="5193720"/>
            <a:ext cx="36565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194" strike="noStrike">
                <a:solidFill>
                  <a:srgbClr val="f4a259"/>
                </a:solidFill>
                <a:latin typeface="Calibri"/>
                <a:ea typeface="Calibri"/>
              </a:rPr>
              <a:t>RESEARCH GOAL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48" name="Text 25"/>
          <p:cNvSpPr/>
          <p:nvPr/>
        </p:nvSpPr>
        <p:spPr>
          <a:xfrm>
            <a:off x="1051560" y="5449680"/>
            <a:ext cx="99658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mbria"/>
                <a:ea typeface="Cambria"/>
              </a:rPr>
              <a:t>Reliable autonomous mobile robots for real-world environments</a:t>
            </a:r>
            <a:endParaRPr b="0" lang="en-US" sz="2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 0"/>
          <p:cNvSpPr/>
          <p:nvPr/>
        </p:nvSpPr>
        <p:spPr>
          <a:xfrm>
            <a:off x="685800" y="411480"/>
            <a:ext cx="73141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Cambria"/>
                <a:ea typeface="Cambria"/>
              </a:rPr>
              <a:t>Teaching Plan</a:t>
            </a:r>
            <a:endParaRPr b="0" lang="en-US" sz="3400" spc="-1" strike="noStrike">
              <a:latin typeface="Arial"/>
            </a:endParaRPr>
          </a:p>
        </p:txBody>
      </p:sp>
      <p:sp>
        <p:nvSpPr>
          <p:cNvPr id="150" name="Shape 1"/>
          <p:cNvSpPr/>
          <p:nvPr/>
        </p:nvSpPr>
        <p:spPr>
          <a:xfrm>
            <a:off x="685800" y="1207080"/>
            <a:ext cx="2010600" cy="547560"/>
          </a:xfrm>
          <a:prstGeom prst="roundRect">
            <a:avLst>
              <a:gd name="adj" fmla="val 33333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1" name="Text 2"/>
          <p:cNvSpPr/>
          <p:nvPr/>
        </p:nvSpPr>
        <p:spPr>
          <a:xfrm>
            <a:off x="685800" y="1207080"/>
            <a:ext cx="20106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Fundamentals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52" name="Text 3"/>
          <p:cNvSpPr/>
          <p:nvPr/>
        </p:nvSpPr>
        <p:spPr>
          <a:xfrm>
            <a:off x="2697480" y="1207080"/>
            <a:ext cx="2548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4a259"/>
                </a:solidFill>
                <a:latin typeface="Calibri"/>
                <a:ea typeface="Calibri"/>
              </a:rPr>
              <a:t>›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53" name="Shape 4"/>
          <p:cNvSpPr/>
          <p:nvPr/>
        </p:nvSpPr>
        <p:spPr>
          <a:xfrm>
            <a:off x="2953440" y="1207080"/>
            <a:ext cx="2010600" cy="547560"/>
          </a:xfrm>
          <a:prstGeom prst="roundRect">
            <a:avLst>
              <a:gd name="adj" fmla="val 33333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4" name="Text 5"/>
          <p:cNvSpPr/>
          <p:nvPr/>
        </p:nvSpPr>
        <p:spPr>
          <a:xfrm>
            <a:off x="2953440" y="1207080"/>
            <a:ext cx="20106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Programming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55" name="Text 6"/>
          <p:cNvSpPr/>
          <p:nvPr/>
        </p:nvSpPr>
        <p:spPr>
          <a:xfrm>
            <a:off x="4965120" y="1207080"/>
            <a:ext cx="2548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4a259"/>
                </a:solidFill>
                <a:latin typeface="Calibri"/>
                <a:ea typeface="Calibri"/>
              </a:rPr>
              <a:t>›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56" name="Shape 7"/>
          <p:cNvSpPr/>
          <p:nvPr/>
        </p:nvSpPr>
        <p:spPr>
          <a:xfrm>
            <a:off x="5221080" y="1207080"/>
            <a:ext cx="2010600" cy="547560"/>
          </a:xfrm>
          <a:prstGeom prst="roundRect">
            <a:avLst>
              <a:gd name="adj" fmla="val 33333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7" name="Text 8"/>
          <p:cNvSpPr/>
          <p:nvPr/>
        </p:nvSpPr>
        <p:spPr>
          <a:xfrm>
            <a:off x="5221080" y="1207080"/>
            <a:ext cx="20106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Simulation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58" name="Text 9"/>
          <p:cNvSpPr/>
          <p:nvPr/>
        </p:nvSpPr>
        <p:spPr>
          <a:xfrm>
            <a:off x="7232760" y="1207080"/>
            <a:ext cx="2548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4a259"/>
                </a:solidFill>
                <a:latin typeface="Calibri"/>
                <a:ea typeface="Calibri"/>
              </a:rPr>
              <a:t>›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59" name="Shape 10"/>
          <p:cNvSpPr/>
          <p:nvPr/>
        </p:nvSpPr>
        <p:spPr>
          <a:xfrm>
            <a:off x="7489080" y="1207080"/>
            <a:ext cx="2010600" cy="547560"/>
          </a:xfrm>
          <a:prstGeom prst="roundRect">
            <a:avLst>
              <a:gd name="adj" fmla="val 33333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0" name="Text 11"/>
          <p:cNvSpPr/>
          <p:nvPr/>
        </p:nvSpPr>
        <p:spPr>
          <a:xfrm>
            <a:off x="7489080" y="1207080"/>
            <a:ext cx="20106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Hardware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1" name="Text 12"/>
          <p:cNvSpPr/>
          <p:nvPr/>
        </p:nvSpPr>
        <p:spPr>
          <a:xfrm>
            <a:off x="9500760" y="1207080"/>
            <a:ext cx="2548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4a259"/>
                </a:solidFill>
                <a:latin typeface="Calibri"/>
                <a:ea typeface="Calibri"/>
              </a:rPr>
              <a:t>›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62" name="Shape 13"/>
          <p:cNvSpPr/>
          <p:nvPr/>
        </p:nvSpPr>
        <p:spPr>
          <a:xfrm>
            <a:off x="9756720" y="1207080"/>
            <a:ext cx="2010600" cy="547560"/>
          </a:xfrm>
          <a:prstGeom prst="roundRect">
            <a:avLst>
              <a:gd name="adj" fmla="val 33333"/>
            </a:avLst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3" name="Text 14"/>
          <p:cNvSpPr/>
          <p:nvPr/>
        </p:nvSpPr>
        <p:spPr>
          <a:xfrm>
            <a:off x="9756720" y="1207080"/>
            <a:ext cx="20106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Project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4" name="Shape 15"/>
          <p:cNvSpPr/>
          <p:nvPr/>
        </p:nvSpPr>
        <p:spPr>
          <a:xfrm>
            <a:off x="685800" y="2148840"/>
            <a:ext cx="3501000" cy="959040"/>
          </a:xfrm>
          <a:prstGeom prst="roundRect">
            <a:avLst>
              <a:gd name="adj" fmla="val 4762"/>
            </a:avLst>
          </a:prstGeom>
          <a:solidFill>
            <a:srgbClr val="123b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5" name="Shape 16"/>
          <p:cNvSpPr/>
          <p:nvPr/>
        </p:nvSpPr>
        <p:spPr>
          <a:xfrm>
            <a:off x="941760" y="2423160"/>
            <a:ext cx="410400" cy="41040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66" name="Image 0" descr="preencoded.png"/>
          <p:cNvPicPr/>
          <p:nvPr/>
        </p:nvPicPr>
        <p:blipFill>
          <a:blip r:embed="rId1"/>
          <a:stretch/>
        </p:blipFill>
        <p:spPr>
          <a:xfrm>
            <a:off x="1053000" y="2534400"/>
            <a:ext cx="188280" cy="188280"/>
          </a:xfrm>
          <a:prstGeom prst="rect">
            <a:avLst/>
          </a:prstGeom>
          <a:ln w="0">
            <a:noFill/>
          </a:ln>
        </p:spPr>
      </p:pic>
      <p:sp>
        <p:nvSpPr>
          <p:cNvPr id="167" name="Text 17"/>
          <p:cNvSpPr/>
          <p:nvPr/>
        </p:nvSpPr>
        <p:spPr>
          <a:xfrm>
            <a:off x="1490400" y="2240280"/>
            <a:ext cx="24951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00"/>
              </a:lnSpc>
              <a:buNone/>
              <a:tabLst>
                <a:tab algn="l" pos="0"/>
              </a:tabLst>
            </a:pP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Robotics and Autonomous Systems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68" name="Shape 18"/>
          <p:cNvSpPr/>
          <p:nvPr/>
        </p:nvSpPr>
        <p:spPr>
          <a:xfrm>
            <a:off x="4489560" y="2148840"/>
            <a:ext cx="3501000" cy="959040"/>
          </a:xfrm>
          <a:prstGeom prst="roundRect">
            <a:avLst>
              <a:gd name="adj" fmla="val 4762"/>
            </a:avLst>
          </a:prstGeom>
          <a:solidFill>
            <a:srgbClr val="123b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9" name="Shape 19"/>
          <p:cNvSpPr/>
          <p:nvPr/>
        </p:nvSpPr>
        <p:spPr>
          <a:xfrm>
            <a:off x="4745880" y="2423160"/>
            <a:ext cx="410400" cy="41040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70" name="Image 1" descr="preencoded.png"/>
          <p:cNvPicPr/>
          <p:nvPr/>
        </p:nvPicPr>
        <p:blipFill>
          <a:blip r:embed="rId2"/>
          <a:stretch/>
        </p:blipFill>
        <p:spPr>
          <a:xfrm>
            <a:off x="4856760" y="2534400"/>
            <a:ext cx="188280" cy="188280"/>
          </a:xfrm>
          <a:prstGeom prst="rect">
            <a:avLst/>
          </a:prstGeom>
          <a:ln w="0">
            <a:noFill/>
          </a:ln>
        </p:spPr>
      </p:pic>
      <p:sp>
        <p:nvSpPr>
          <p:cNvPr id="171" name="Text 20"/>
          <p:cNvSpPr/>
          <p:nvPr/>
        </p:nvSpPr>
        <p:spPr>
          <a:xfrm>
            <a:off x="5294520" y="2240280"/>
            <a:ext cx="24951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00"/>
              </a:lnSpc>
              <a:buNone/>
              <a:tabLst>
                <a:tab algn="l" pos="0"/>
              </a:tabLst>
            </a:pP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ROS 2 and Robot Programming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72" name="Shape 21"/>
          <p:cNvSpPr/>
          <p:nvPr/>
        </p:nvSpPr>
        <p:spPr>
          <a:xfrm>
            <a:off x="8293680" y="2148840"/>
            <a:ext cx="3501000" cy="959040"/>
          </a:xfrm>
          <a:prstGeom prst="roundRect">
            <a:avLst>
              <a:gd name="adj" fmla="val 4762"/>
            </a:avLst>
          </a:prstGeom>
          <a:solidFill>
            <a:srgbClr val="123b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Shape 22"/>
          <p:cNvSpPr/>
          <p:nvPr/>
        </p:nvSpPr>
        <p:spPr>
          <a:xfrm>
            <a:off x="8549640" y="2423160"/>
            <a:ext cx="410400" cy="41040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74" name="Image 2" descr="preencoded.png"/>
          <p:cNvPicPr/>
          <p:nvPr/>
        </p:nvPicPr>
        <p:blipFill>
          <a:blip r:embed="rId3"/>
          <a:stretch/>
        </p:blipFill>
        <p:spPr>
          <a:xfrm>
            <a:off x="8660880" y="2534400"/>
            <a:ext cx="188280" cy="188280"/>
          </a:xfrm>
          <a:prstGeom prst="rect">
            <a:avLst/>
          </a:prstGeom>
          <a:ln w="0">
            <a:noFill/>
          </a:ln>
        </p:spPr>
      </p:pic>
      <p:sp>
        <p:nvSpPr>
          <p:cNvPr id="175" name="Text 23"/>
          <p:cNvSpPr/>
          <p:nvPr/>
        </p:nvSpPr>
        <p:spPr>
          <a:xfrm>
            <a:off x="9098280" y="2240280"/>
            <a:ext cx="24951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00"/>
              </a:lnSpc>
              <a:buNone/>
              <a:tabLst>
                <a:tab algn="l" pos="0"/>
              </a:tabLst>
            </a:pP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C++ and Python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76" name="Shape 24"/>
          <p:cNvSpPr/>
          <p:nvPr/>
        </p:nvSpPr>
        <p:spPr>
          <a:xfrm>
            <a:off x="685800" y="3291840"/>
            <a:ext cx="3501000" cy="959040"/>
          </a:xfrm>
          <a:prstGeom prst="roundRect">
            <a:avLst>
              <a:gd name="adj" fmla="val 4762"/>
            </a:avLst>
          </a:prstGeom>
          <a:solidFill>
            <a:srgbClr val="123b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Shape 25"/>
          <p:cNvSpPr/>
          <p:nvPr/>
        </p:nvSpPr>
        <p:spPr>
          <a:xfrm>
            <a:off x="941760" y="3566160"/>
            <a:ext cx="410400" cy="41040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78" name="Image 3" descr="preencoded.png"/>
          <p:cNvPicPr/>
          <p:nvPr/>
        </p:nvPicPr>
        <p:blipFill>
          <a:blip r:embed="rId4"/>
          <a:stretch/>
        </p:blipFill>
        <p:spPr>
          <a:xfrm>
            <a:off x="1053000" y="3677400"/>
            <a:ext cx="188280" cy="188280"/>
          </a:xfrm>
          <a:prstGeom prst="rect">
            <a:avLst/>
          </a:prstGeom>
          <a:ln w="0">
            <a:noFill/>
          </a:ln>
        </p:spPr>
      </p:pic>
      <p:sp>
        <p:nvSpPr>
          <p:cNvPr id="179" name="Text 26"/>
          <p:cNvSpPr/>
          <p:nvPr/>
        </p:nvSpPr>
        <p:spPr>
          <a:xfrm>
            <a:off x="1490400" y="3383280"/>
            <a:ext cx="24951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00"/>
              </a:lnSpc>
              <a:buNone/>
              <a:tabLst>
                <a:tab algn="l" pos="0"/>
              </a:tabLst>
            </a:pP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Computer Vision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80" name="Shape 27"/>
          <p:cNvSpPr/>
          <p:nvPr/>
        </p:nvSpPr>
        <p:spPr>
          <a:xfrm>
            <a:off x="4489560" y="3291840"/>
            <a:ext cx="3501000" cy="959040"/>
          </a:xfrm>
          <a:prstGeom prst="roundRect">
            <a:avLst>
              <a:gd name="adj" fmla="val 4762"/>
            </a:avLst>
          </a:prstGeom>
          <a:solidFill>
            <a:srgbClr val="123b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1" name="Shape 28"/>
          <p:cNvSpPr/>
          <p:nvPr/>
        </p:nvSpPr>
        <p:spPr>
          <a:xfrm>
            <a:off x="4745880" y="3566160"/>
            <a:ext cx="410400" cy="41040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82" name="Image 4" descr="preencoded.png"/>
          <p:cNvPicPr/>
          <p:nvPr/>
        </p:nvPicPr>
        <p:blipFill>
          <a:blip r:embed="rId5"/>
          <a:stretch/>
        </p:blipFill>
        <p:spPr>
          <a:xfrm>
            <a:off x="4856760" y="3677400"/>
            <a:ext cx="188280" cy="188280"/>
          </a:xfrm>
          <a:prstGeom prst="rect">
            <a:avLst/>
          </a:prstGeom>
          <a:ln w="0">
            <a:noFill/>
          </a:ln>
        </p:spPr>
      </p:pic>
      <p:sp>
        <p:nvSpPr>
          <p:cNvPr id="183" name="Text 29"/>
          <p:cNvSpPr/>
          <p:nvPr/>
        </p:nvSpPr>
        <p:spPr>
          <a:xfrm>
            <a:off x="5294520" y="3383280"/>
            <a:ext cx="24951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00"/>
              </a:lnSpc>
              <a:buNone/>
              <a:tabLst>
                <a:tab algn="l" pos="0"/>
              </a:tabLst>
            </a:pP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Control Systems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84" name="Shape 30"/>
          <p:cNvSpPr/>
          <p:nvPr/>
        </p:nvSpPr>
        <p:spPr>
          <a:xfrm>
            <a:off x="8293680" y="3291840"/>
            <a:ext cx="3501000" cy="959040"/>
          </a:xfrm>
          <a:prstGeom prst="roundRect">
            <a:avLst>
              <a:gd name="adj" fmla="val 4762"/>
            </a:avLst>
          </a:prstGeom>
          <a:solidFill>
            <a:srgbClr val="123b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Shape 31"/>
          <p:cNvSpPr/>
          <p:nvPr/>
        </p:nvSpPr>
        <p:spPr>
          <a:xfrm>
            <a:off x="8549640" y="3566160"/>
            <a:ext cx="410400" cy="410400"/>
          </a:xfrm>
          <a:prstGeom prst="ellipse">
            <a:avLst/>
          </a:prstGeom>
          <a:solidFill>
            <a:srgbClr val="1657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86" name="Image 5" descr="preencoded.png"/>
          <p:cNvPicPr/>
          <p:nvPr/>
        </p:nvPicPr>
        <p:blipFill>
          <a:blip r:embed="rId6"/>
          <a:stretch/>
        </p:blipFill>
        <p:spPr>
          <a:xfrm>
            <a:off x="8660880" y="3677400"/>
            <a:ext cx="188280" cy="188280"/>
          </a:xfrm>
          <a:prstGeom prst="rect">
            <a:avLst/>
          </a:prstGeom>
          <a:ln w="0">
            <a:noFill/>
          </a:ln>
        </p:spPr>
      </p:pic>
      <p:sp>
        <p:nvSpPr>
          <p:cNvPr id="187" name="Text 32"/>
          <p:cNvSpPr/>
          <p:nvPr/>
        </p:nvSpPr>
        <p:spPr>
          <a:xfrm>
            <a:off x="9098280" y="3383280"/>
            <a:ext cx="24951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1800"/>
              </a:lnSpc>
              <a:buNone/>
              <a:tabLst>
                <a:tab algn="l" pos="0"/>
              </a:tabLst>
            </a:pPr>
            <a:r>
              <a:rPr b="0" lang="en-US" sz="1350" spc="-1" strike="noStrike">
                <a:solidFill>
                  <a:srgbClr val="ffffff"/>
                </a:solidFill>
                <a:latin typeface="Calibri"/>
                <a:ea typeface="Calibri"/>
              </a:rPr>
              <a:t>Design Thinking &amp; Project-Based Learning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188" name="Shape 33"/>
          <p:cNvSpPr/>
          <p:nvPr/>
        </p:nvSpPr>
        <p:spPr>
          <a:xfrm>
            <a:off x="685800" y="4663440"/>
            <a:ext cx="10789920" cy="360"/>
          </a:xfrm>
          <a:prstGeom prst="line">
            <a:avLst/>
          </a:prstGeom>
          <a:ln w="12700">
            <a:solidFill>
              <a:srgbClr val="1e4a5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Text 34"/>
          <p:cNvSpPr/>
          <p:nvPr/>
        </p:nvSpPr>
        <p:spPr>
          <a:xfrm>
            <a:off x="685800" y="4846320"/>
            <a:ext cx="36565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50" spc="194" strike="noStrike">
                <a:solidFill>
                  <a:srgbClr val="f4a259"/>
                </a:solidFill>
                <a:latin typeface="Calibri"/>
                <a:ea typeface="Calibri"/>
              </a:rPr>
              <a:t>TEACHING GOAL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90" name="Text 35"/>
          <p:cNvSpPr/>
          <p:nvPr/>
        </p:nvSpPr>
        <p:spPr>
          <a:xfrm>
            <a:off x="685800" y="5120640"/>
            <a:ext cx="1078884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e8f1f3"/>
                </a:solidFill>
                <a:latin typeface="Calibri"/>
                <a:ea typeface="Calibri"/>
              </a:rPr>
              <a:t>Strong fundamentals, hands-on robotics implementation and research-oriented projects.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91" name="Text 36"/>
          <p:cNvSpPr/>
          <p:nvPr/>
        </p:nvSpPr>
        <p:spPr>
          <a:xfrm>
            <a:off x="685800" y="5577840"/>
            <a:ext cx="107888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2200"/>
              </a:lnSpc>
              <a:buNone/>
              <a:tabLst>
                <a:tab algn="l" pos="0"/>
              </a:tabLst>
            </a:pPr>
            <a:r>
              <a:rPr b="1" i="1" lang="en-US" sz="1600" spc="-1" strike="noStrike">
                <a:solidFill>
                  <a:srgbClr val="ffffd7"/>
                </a:solidFill>
                <a:latin typeface="Cambria"/>
                <a:ea typeface="Cambria"/>
              </a:rPr>
              <a:t>“</a:t>
            </a:r>
            <a:r>
              <a:rPr b="1" i="1" lang="en-US" sz="1600" spc="-1" strike="noStrike">
                <a:solidFill>
                  <a:srgbClr val="ffffd7"/>
                </a:solidFill>
                <a:latin typeface="Cambria"/>
                <a:ea typeface="Cambria"/>
              </a:rPr>
              <a:t>My aim is to integrate teaching, research and practical robotics experience to develop capable students and contribute to reliable autonomous robotic systems.”</a:t>
            </a:r>
            <a:endParaRPr b="0" lang="en-US" sz="1600" spc="-1" strike="noStrike">
              <a:solidFill>
                <a:srgbClr val="ffffd7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"/>
          <p:cNvSpPr/>
          <p:nvPr/>
        </p:nvSpPr>
        <p:spPr>
          <a:xfrm>
            <a:off x="228600" y="183960"/>
            <a:ext cx="11429640" cy="627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None/>
            </a:pPr>
            <a:r>
              <a:rPr b="1" lang="en-US" sz="2200" spc="-1" strike="noStrike">
                <a:latin typeface="Arial"/>
              </a:rPr>
              <a:t>Journal Publications</a:t>
            </a:r>
            <a:endParaRPr b="0" lang="en-US" sz="22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None/>
            </a:pPr>
            <a:endParaRPr b="0" lang="en-US" sz="2200" spc="-1" strike="noStrike"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Clr>
                <a:srgbClr val="000000"/>
              </a:buClr>
              <a:buFont typeface="StarSymbol"/>
              <a:buAutoNum type="arabicPeriod"/>
            </a:pPr>
            <a:r>
              <a:rPr b="0" lang="en-US" sz="1800" spc="-1" strike="noStrike">
                <a:latin typeface="Arial"/>
              </a:rPr>
              <a:t>Sharma, Monex, and Hari Kumar Voruganti. "</a:t>
            </a:r>
            <a:r>
              <a:rPr b="1" lang="en-US" sz="1800" spc="-1" strike="noStrike">
                <a:latin typeface="Arial"/>
              </a:rPr>
              <a:t>Multi-objective optimization approach for coverage path planning of mobile robot.</a:t>
            </a:r>
            <a:r>
              <a:rPr b="0" lang="en-US" sz="1800" spc="-1" strike="noStrike">
                <a:latin typeface="Arial"/>
              </a:rPr>
              <a:t>" </a:t>
            </a:r>
            <a:r>
              <a:rPr b="0" lang="en-US" sz="1800" spc="-1" strike="noStrike">
                <a:solidFill>
                  <a:srgbClr val="ff0000"/>
                </a:solidFill>
                <a:latin typeface="Arial"/>
              </a:rPr>
              <a:t>Robotica (2024)</a:t>
            </a:r>
            <a:r>
              <a:rPr b="0" lang="en-US" sz="1800" spc="-1" strike="noStrike">
                <a:latin typeface="Arial"/>
              </a:rPr>
              <a:t>: 1-25. SCIE, IF – 2.7, Q2.</a:t>
            </a:r>
            <a:endParaRPr b="0" lang="en-US" sz="18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None/>
            </a:pPr>
            <a:endParaRPr b="0" lang="en-US" sz="1800" spc="-1" strike="noStrike"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Clr>
                <a:srgbClr val="000000"/>
              </a:buClr>
              <a:buFont typeface="StarSymbol"/>
              <a:buAutoNum type="arabicPeriod"/>
            </a:pPr>
            <a:r>
              <a:rPr b="0" lang="en-US" sz="1800" spc="-1" strike="noStrike">
                <a:latin typeface="Arial"/>
              </a:rPr>
              <a:t>Sharma, Monex, and Hari Kumar Voruganti. "</a:t>
            </a:r>
            <a:r>
              <a:rPr b="1" lang="en-US" sz="1800" spc="-1" strike="noStrike">
                <a:latin typeface="Arial"/>
              </a:rPr>
              <a:t>Energy-Efficient Coverage Path Planning for Mobile Robots on Uneven Terrain via the TA-NSGA-II Approach.</a:t>
            </a:r>
            <a:r>
              <a:rPr b="0" lang="en-US" sz="1800" spc="-1" strike="noStrike">
                <a:latin typeface="Arial"/>
              </a:rPr>
              <a:t>" </a:t>
            </a:r>
            <a:r>
              <a:rPr b="0" lang="en-US" sz="1800" spc="-1" strike="noStrike">
                <a:solidFill>
                  <a:srgbClr val="ff0000"/>
                </a:solidFill>
                <a:latin typeface="Arial"/>
              </a:rPr>
              <a:t>Arabian Journal of Science and Engineering (2025)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:</a:t>
            </a:r>
            <a:r>
              <a:rPr b="0" lang="en-US" sz="1800" spc="-1" strike="noStrike">
                <a:latin typeface="Arial"/>
              </a:rPr>
              <a:t> 1-23. SCIE, IF – 2.9, Q1.</a:t>
            </a:r>
            <a:endParaRPr b="0" lang="en-US" sz="18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None/>
            </a:pPr>
            <a:endParaRPr b="0" lang="en-US" sz="1800" spc="-1" strike="noStrike"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Clr>
                <a:srgbClr val="000000"/>
              </a:buClr>
              <a:buFont typeface="StarSymbol"/>
              <a:buAutoNum type="arabicPeriod"/>
            </a:pPr>
            <a:r>
              <a:rPr b="0" lang="en-US" sz="1800" spc="-1" strike="noStrike">
                <a:latin typeface="Arial"/>
              </a:rPr>
              <a:t>Sharma, Monex, and Hari Kumar Voruganti. "</a:t>
            </a:r>
            <a:r>
              <a:rPr b="1" lang="en-US" sz="1800" spc="-1" strike="noStrike">
                <a:latin typeface="Arial"/>
              </a:rPr>
              <a:t>Implementation of Coverage Path Planning Based on Modified NSGA-II and Kalman Filter on GoPiGo3 Robot</a:t>
            </a:r>
            <a:r>
              <a:rPr b="0" lang="en-US" sz="1800" spc="-1" strike="noStrike">
                <a:latin typeface="Arial"/>
              </a:rPr>
              <a:t>.” </a:t>
            </a:r>
            <a:r>
              <a:rPr b="0" lang="en-US" sz="1800" spc="-1" strike="noStrike">
                <a:solidFill>
                  <a:srgbClr val="ff0000"/>
                </a:solidFill>
                <a:latin typeface="Arial"/>
              </a:rPr>
              <a:t>International Journal of Automation and Smart Technology. Scopus Journal.</a:t>
            </a:r>
            <a:endParaRPr b="0" lang="en-US" sz="18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None/>
            </a:pPr>
            <a:endParaRPr b="0" lang="en-US" sz="1800" spc="-1" strike="noStrike"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Clr>
                <a:srgbClr val="000000"/>
              </a:buClr>
              <a:buFont typeface="StarSymbol"/>
              <a:buAutoNum type="arabicPeriod"/>
            </a:pPr>
            <a:r>
              <a:rPr b="0" lang="en-US" sz="1800" spc="-1" strike="noStrike">
                <a:latin typeface="Arial"/>
              </a:rPr>
              <a:t>Sharma, Monex, and Hari Kumar Voruganti. "</a:t>
            </a:r>
            <a:r>
              <a:rPr b="1" lang="en-US" sz="1800" spc="-1" strike="noStrike">
                <a:latin typeface="Arial"/>
              </a:rPr>
              <a:t>Improved NSGA-II for offline coverage path planning with reactive velocity adaptation for moving obstacles in known environments.</a:t>
            </a:r>
            <a:r>
              <a:rPr b="0" lang="en-US" sz="1800" spc="-1" strike="noStrike">
                <a:latin typeface="Arial"/>
              </a:rPr>
              <a:t>” </a:t>
            </a:r>
            <a:r>
              <a:rPr b="0" lang="en-US" sz="1800" spc="-1" strike="noStrike">
                <a:solidFill>
                  <a:srgbClr val="ff0000"/>
                </a:solidFill>
                <a:latin typeface="Arial"/>
              </a:rPr>
              <a:t>Target Journal: Robotics and Autonomous Systems (RAS)</a:t>
            </a:r>
            <a:endParaRPr b="0" lang="en-US" sz="18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None/>
            </a:pPr>
            <a:endParaRPr b="0" lang="en-US" sz="1800" spc="-1" strike="noStrike">
              <a:latin typeface="Arial"/>
            </a:endParaRPr>
          </a:p>
          <a:p>
            <a:pPr marL="216000" indent="-216000"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Clr>
                <a:srgbClr val="000000"/>
              </a:buClr>
              <a:buFont typeface="StarSymbol"/>
              <a:buAutoNum type="arabicPeriod"/>
            </a:pPr>
            <a:r>
              <a:rPr b="0" lang="en-US" sz="1800" spc="-1" strike="noStrike">
                <a:latin typeface="Arial"/>
                <a:ea typeface="Noto Sans CJK SC"/>
              </a:rPr>
              <a:t>Sharma, Monex. “</a:t>
            </a:r>
            <a:r>
              <a:rPr b="1" lang="en-US" sz="1800" spc="-1" strike="noStrike">
                <a:latin typeface="Arial"/>
                <a:ea typeface="Noto Sans CJK SC"/>
              </a:rPr>
              <a:t>Localization-Aware Search and Rescue Navigation with Autonomous Return to Known Locations.</a:t>
            </a:r>
            <a:r>
              <a:rPr b="0" lang="en-US" sz="1800" spc="-1" strike="noStrike">
                <a:latin typeface="Arial"/>
                <a:ea typeface="Noto Sans CJK SC"/>
              </a:rPr>
              <a:t>” </a:t>
            </a:r>
            <a:r>
              <a:rPr b="0" lang="en-US" sz="1800" spc="-1" strike="noStrike">
                <a:solidFill>
                  <a:srgbClr val="ff0000"/>
                </a:solidFill>
                <a:latin typeface="Arial"/>
                <a:ea typeface="Noto Sans CJK SC"/>
              </a:rPr>
              <a:t>Target Journal: Industrial Robot (Emerald Publishing)</a:t>
            </a:r>
            <a:endParaRPr b="0" lang="en-US" sz="1800" spc="-1" strike="noStrike">
              <a:latin typeface="Arial"/>
            </a:endParaRPr>
          </a:p>
          <a:p>
            <a:pPr algn="just">
              <a:lnSpc>
                <a:spcPct val="100000"/>
              </a:lnSpc>
              <a:spcBef>
                <a:spcPts val="431"/>
              </a:spcBef>
              <a:spcAft>
                <a:spcPts val="145"/>
              </a:spcAft>
              <a:buNone/>
            </a:pP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"/>
          <p:cNvSpPr/>
          <p:nvPr/>
        </p:nvSpPr>
        <p:spPr>
          <a:xfrm>
            <a:off x="829800" y="685800"/>
            <a:ext cx="10142640" cy="525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just">
              <a:lnSpc>
                <a:spcPct val="100000"/>
              </a:lnSpc>
              <a:buNone/>
            </a:pPr>
            <a:r>
              <a:rPr b="1" lang="en-US" sz="2200" spc="-1" strike="noStrike">
                <a:latin typeface="Arial"/>
              </a:rPr>
              <a:t>Conference Publications</a:t>
            </a:r>
            <a:endParaRPr b="0" lang="en-US" sz="22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 algn="just">
              <a:lnSpc>
                <a:spcPct val="100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tarSymbol"/>
              <a:buAutoNum type="arabicPeriod"/>
            </a:pPr>
            <a:r>
              <a:rPr b="0" lang="en-US" sz="1800" spc="-1" strike="noStrike">
                <a:latin typeface="Arial"/>
              </a:rPr>
              <a:t>Monex Sharma, and Hari Kumar Voruganti. "</a:t>
            </a:r>
            <a:r>
              <a:rPr b="1" lang="en-US" sz="1800" spc="-1" strike="noStrike">
                <a:latin typeface="Arial"/>
              </a:rPr>
              <a:t>An Effective Genetic Algorithm based Multi-Objective Optimization Approach for Coverage Path Planning of Mobile Robot.</a:t>
            </a:r>
            <a:r>
              <a:rPr b="0" lang="en-US" sz="1800" spc="-1" strike="noStrike">
                <a:latin typeface="Arial"/>
              </a:rPr>
              <a:t>" I</a:t>
            </a:r>
            <a:r>
              <a:rPr b="0" lang="en-US" sz="1800" spc="-1" strike="noStrike">
                <a:solidFill>
                  <a:srgbClr val="ff0000"/>
                </a:solidFill>
                <a:latin typeface="Arial"/>
              </a:rPr>
              <a:t>nternational Conference on Advancements in Interdisciplinary Research (AIR-2022)</a:t>
            </a:r>
            <a:r>
              <a:rPr b="0" lang="en-US" sz="1800" spc="-1" strike="noStrike">
                <a:latin typeface="Arial"/>
              </a:rPr>
              <a:t>, 6th - 7th May 2022 at MNNIT Allahabad, Prayagraj, India, Scopus Indexed.</a:t>
            </a:r>
            <a:endParaRPr b="0" lang="en-US" sz="1800" spc="-1" strike="noStrike">
              <a:latin typeface="Arial"/>
            </a:endParaRPr>
          </a:p>
          <a:p>
            <a:pPr algn="just">
              <a:lnSpc>
                <a:spcPct val="115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tarSymbol"/>
              <a:buAutoNum type="arabicPeriod"/>
            </a:pPr>
            <a:r>
              <a:rPr b="0" lang="en-US" sz="1800" spc="-1" strike="noStrike">
                <a:latin typeface="Arial"/>
                <a:ea typeface="Noto Sans CJK SC"/>
              </a:rPr>
              <a:t>Sharma, Monex, and Hari Kumar Voruganti. "</a:t>
            </a:r>
            <a:r>
              <a:rPr b="1" lang="en-US" sz="1800" spc="-1" strike="noStrike">
                <a:latin typeface="Arial"/>
                <a:ea typeface="Noto Sans CJK SC"/>
              </a:rPr>
              <a:t>Preference Based Multi-Objective Optimization Techniques for Coverage Path Planning of a Mobile Robot.</a:t>
            </a:r>
            <a:r>
              <a:rPr b="0" lang="en-US" sz="1800" spc="-1" strike="noStrike">
                <a:latin typeface="Arial"/>
                <a:ea typeface="Noto Sans CJK SC"/>
              </a:rPr>
              <a:t>" I</a:t>
            </a:r>
            <a:r>
              <a:rPr b="0" lang="en-US" sz="1800" spc="-1" strike="noStrike">
                <a:solidFill>
                  <a:srgbClr val="ff0000"/>
                </a:solidFill>
                <a:latin typeface="Arial"/>
                <a:ea typeface="Noto Sans CJK SC"/>
              </a:rPr>
              <a:t>n Proceedings of the 2023 6th International Conference on Advances in Robotics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Noto Sans CJK SC"/>
              </a:rPr>
              <a:t>,</a:t>
            </a:r>
            <a:r>
              <a:rPr b="0" lang="en-US" sz="1800" spc="-1" strike="noStrike">
                <a:latin typeface="Arial"/>
                <a:ea typeface="Noto Sans CJK SC"/>
              </a:rPr>
              <a:t> pp. 1-6. 2023,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Noto Sans CJK SC"/>
              </a:rPr>
              <a:t>IIT Ropar</a:t>
            </a:r>
            <a:r>
              <a:rPr b="0" lang="en-US" sz="1800" spc="-1" strike="noStrike">
                <a:latin typeface="Arial"/>
                <a:ea typeface="Noto Sans CJK SC"/>
              </a:rPr>
              <a:t>. Scopus Indexed.</a:t>
            </a:r>
            <a:endParaRPr b="0" lang="en-US" sz="1800" spc="-1" strike="noStrike">
              <a:latin typeface="Arial"/>
            </a:endParaRPr>
          </a:p>
          <a:p>
            <a:pPr algn="just">
              <a:lnSpc>
                <a:spcPct val="115000"/>
              </a:lnSpc>
              <a:buNone/>
            </a:pPr>
            <a:endParaRPr b="0" lang="en-US" sz="1800" spc="-1" strike="noStrike">
              <a:latin typeface="Arial"/>
            </a:endParaRPr>
          </a:p>
          <a:p>
            <a:pPr marL="216000" indent="-216000" algn="just">
              <a:lnSpc>
                <a:spcPct val="115000"/>
              </a:lnSpc>
              <a:buClr>
                <a:srgbClr val="000000"/>
              </a:buClr>
              <a:buFont typeface="StarSymbol"/>
              <a:buAutoNum type="arabicPeriod"/>
            </a:pPr>
            <a:r>
              <a:rPr b="0" lang="en-US" sz="1800" spc="-1" strike="noStrike">
                <a:latin typeface="Arial"/>
                <a:ea typeface="Noto Sans CJK SC"/>
              </a:rPr>
              <a:t>Sharma, Monex, and Hari Kumar Voruganti. "</a:t>
            </a:r>
            <a:r>
              <a:rPr b="1" lang="en-US" sz="1800" spc="-1" strike="noStrike">
                <a:latin typeface="Arial"/>
                <a:ea typeface="Noto Sans CJK SC"/>
              </a:rPr>
              <a:t>A Classical Multi-objective Approach for Coverage Path Plans for a Mobile Robot in an Uneven Terrain.</a:t>
            </a:r>
            <a:r>
              <a:rPr b="0" lang="en-US" sz="1800" spc="-1" strike="noStrike">
                <a:latin typeface="Arial"/>
                <a:ea typeface="Noto Sans CJK SC"/>
              </a:rPr>
              <a:t>" </a:t>
            </a:r>
            <a:r>
              <a:rPr b="0" lang="en-US" sz="1800" spc="-1" strike="noStrike">
                <a:solidFill>
                  <a:srgbClr val="ff0000"/>
                </a:solidFill>
                <a:latin typeface="Arial"/>
                <a:ea typeface="Noto Sans CJK SC"/>
              </a:rPr>
              <a:t>6th National Conference on Multidisciplinary Design, Analysis and Optimization</a:t>
            </a:r>
            <a:r>
              <a:rPr b="0" lang="en-US" sz="1800" spc="-1" strike="noStrike">
                <a:latin typeface="Arial"/>
                <a:ea typeface="Noto Sans CJK SC"/>
              </a:rPr>
              <a:t>, 2023,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Noto Sans CJK SC"/>
              </a:rPr>
              <a:t>IIT Guwahati</a:t>
            </a:r>
            <a:r>
              <a:rPr b="0" lang="en-US" sz="1800" spc="-1" strike="noStrike">
                <a:latin typeface="Arial"/>
                <a:ea typeface="Noto Sans CJK SC"/>
              </a:rPr>
              <a:t>. Scopus Indexed.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Application>LibreOffice/7.3.7.2$Linux_X86_64 LibreOffice_project/30$Build-2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2026-09-16T13:04:57Z</dcterms:created>
  <dc:creator>Dr. Monex Sharma</dc:creator>
  <dc:description/>
  <dc:language>en-US</dc:language>
  <cp:lastModifiedBy/>
  <dcterms:modified xsi:type="dcterms:W3CDTF">2026-09-17T11:36:52Z</dcterms:modified>
  <cp:revision>31</cp:revision>
  <dc:subject>PptxGenJS Presentation</dc:subject>
  <dc:title>Faculty Interview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</vt:i4>
  </property>
  <property fmtid="{D5CDD505-2E9C-101B-9397-08002B2CF9AE}" pid="3" name="PresentationFormat">
    <vt:lpwstr>On-screen Show (16:9)</vt:lpwstr>
  </property>
  <property fmtid="{D5CDD505-2E9C-101B-9397-08002B2CF9AE}" pid="4" name="Slides">
    <vt:i4>5</vt:i4>
  </property>
</Properties>
</file>